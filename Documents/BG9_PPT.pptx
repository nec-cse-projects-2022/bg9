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81" r:id="rId2"/>
    <p:sldId id="260" r:id="rId3"/>
    <p:sldId id="262" r:id="rId4"/>
    <p:sldId id="279" r:id="rId5"/>
    <p:sldId id="263" r:id="rId6"/>
    <p:sldId id="280" r:id="rId7"/>
    <p:sldId id="285" r:id="rId8"/>
    <p:sldId id="265" r:id="rId9"/>
    <p:sldId id="270" r:id="rId10"/>
    <p:sldId id="266" r:id="rId11"/>
    <p:sldId id="268" r:id="rId12"/>
    <p:sldId id="269" r:id="rId13"/>
    <p:sldId id="306" r:id="rId14"/>
    <p:sldId id="283" r:id="rId15"/>
    <p:sldId id="288" r:id="rId16"/>
    <p:sldId id="289" r:id="rId17"/>
    <p:sldId id="290" r:id="rId18"/>
    <p:sldId id="291" r:id="rId19"/>
    <p:sldId id="301" r:id="rId20"/>
    <p:sldId id="302" r:id="rId21"/>
    <p:sldId id="303" r:id="rId22"/>
    <p:sldId id="304" r:id="rId23"/>
    <p:sldId id="309" r:id="rId24"/>
    <p:sldId id="292" r:id="rId25"/>
    <p:sldId id="293" r:id="rId26"/>
    <p:sldId id="294" r:id="rId27"/>
    <p:sldId id="295" r:id="rId28"/>
    <p:sldId id="305" r:id="rId29"/>
    <p:sldId id="296" r:id="rId30"/>
    <p:sldId id="297" r:id="rId31"/>
    <p:sldId id="298" r:id="rId32"/>
    <p:sldId id="28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99655-05E8-4463-9482-2D23FD405AF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9CC48-2212-46F0-B96C-6F8104E82434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38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58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E0E28-087F-4BBF-B8BC-055CB0BBD46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E3DF0-35B4-40E5-AC91-1A2000F8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5E3DF0-35B4-40E5-AC91-1A2000F8127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921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5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02064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7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79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75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27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1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2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2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27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35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11-11-2025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0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11-11-2025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No. 02        Batch No. BG11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17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 txBox="1">
            <a:spLocks/>
          </p:cNvSpPr>
          <p:nvPr/>
        </p:nvSpPr>
        <p:spPr>
          <a:xfrm>
            <a:off x="1754154" y="705471"/>
            <a:ext cx="8915400" cy="375925"/>
          </a:xfrm>
          <a:prstGeom prst="roundRect">
            <a:avLst>
              <a:gd name="adj" fmla="val 16667"/>
            </a:avLst>
          </a:prstGeom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b="1">
                <a:latin typeface="Times New Roman" panose="02020603050405020304" pitchFamily="18" charset="0"/>
                <a:cs typeface="Times New Roman" pitchFamily="18" charset="0"/>
              </a:rPr>
              <a:t>Department of Computer Science and Engineering</a:t>
            </a:r>
          </a:p>
          <a:p>
            <a:pPr algn="ctr"/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Microplastic Classification in Holographic Images Using </a:t>
            </a:r>
          </a:p>
          <a:p>
            <a:pPr algn="ctr"/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Swin Transformer V2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1754154" y="1966120"/>
            <a:ext cx="9144000" cy="134105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PRESENTED BY</a:t>
            </a:r>
          </a:p>
          <a:p>
            <a:pPr algn="l" eaLnBrk="1" hangingPunct="1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   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Polisetty Rishitha Sai Sri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	 (22471A05C2)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	   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itchFamily="18" charset="0"/>
              </a:rPr>
              <a:t>Nagasarapu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 Mohana Sri Krupa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 (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22471A05B0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)</a:t>
            </a: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 	   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Rayala Lakshmi		 (22471A05C5)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 bwMode="auto">
          <a:xfrm>
            <a:off x="2897154" y="3429000"/>
            <a:ext cx="6858000" cy="258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itchFamily="18" charset="0"/>
              </a:rPr>
              <a:t>Under the Guidance of,</a:t>
            </a:r>
            <a:endParaRPr lang="en-US" altLang="en-US" b="1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endParaRPr lang="en-US" altLang="en-US" sz="9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Mabanu Sampath Kumar</a:t>
            </a:r>
            <a:r>
              <a:rPr 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M.Tech</a:t>
            </a:r>
            <a:r>
              <a:rPr lang="en-US" sz="1800" b="1" kern="100" baseline="-25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Ph.D.,</a:t>
            </a:r>
            <a:endParaRPr lang="en-IN" sz="1800" b="1" kern="100" baseline="-25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</a:pPr>
            <a:r>
              <a:rPr lang="en-US" sz="1600" b="1" kern="1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professor,</a:t>
            </a:r>
            <a:endParaRPr lang="en-US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Narasaraopeta</a:t>
            </a: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Engineering College (Autonomous),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Narasaraopet- 522 601.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674"/>
            <a:ext cx="3762900" cy="57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41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73486"/>
            <a:ext cx="10173182" cy="810555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158" y="1274193"/>
            <a:ext cx="10534917" cy="508215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Flow Diagram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752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76387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FF6D0F4-0F98-9A28-3386-CCCD30F7AD43}"/>
              </a:ext>
            </a:extLst>
          </p:cNvPr>
          <p:cNvSpPr txBox="1"/>
          <p:nvPr/>
        </p:nvSpPr>
        <p:spPr>
          <a:xfrm>
            <a:off x="933061" y="1010245"/>
            <a:ext cx="104207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microplastics with deep learning methods on integrated holographic images is more successful. By representing the microcosm along with its hologram phase and amplitude as an HSL </a:t>
            </a:r>
            <a:r>
              <a:rPr lang="en-IN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space, microplastic samples become rich in both spatial and </a:t>
            </a:r>
            <a:r>
              <a:rPr lang="en-IN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information. The Swin Transformer V2 which is famously known for its hierarchical utilization of self-attention and its success on minute and complex images, is chosen to perform exact classification. Results show the accuracy and F1-Score of 91.65% and 91.79%, respectively, thus reflecting a high level of true positive identification and good false positive avoidance. This study highlights the potential of vision transformers for environmental monitoring tasks and provides a framework for the automated microplastics detection via digital holography.</a:t>
            </a:r>
          </a:p>
        </p:txBody>
      </p:sp>
    </p:spTree>
    <p:extLst>
      <p:ext uri="{BB962C8B-B14F-4D97-AF65-F5344CB8AC3E}">
        <p14:creationId xmlns:p14="http://schemas.microsoft.com/office/powerpoint/2010/main" val="1369108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630" y="1342664"/>
            <a:ext cx="10636170" cy="4907666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Overview: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Microplastics, formed from plastic waste, contaminate water bodies and harm ecosystems. Manual detection is slow and inefficient, demanding automated deep learning solutions.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accuracy and overcome CNN limitations,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V2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classifying complex holographic images through hierarchical attention.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fusion of amplitude and phase images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HSL color space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precise microplastic detection, supporting real-time environmental monitoring.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75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665174"/>
            <a:ext cx="10173182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xmlns="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D5492C34-DF62-E3B9-3F6C-997B49ACC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875429"/>
              </p:ext>
            </p:extLst>
          </p:nvPr>
        </p:nvGraphicFramePr>
        <p:xfrm>
          <a:off x="762000" y="1646238"/>
          <a:ext cx="10667999" cy="421957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99515">
                  <a:extLst>
                    <a:ext uri="{9D8B030D-6E8A-4147-A177-3AD203B41FA5}">
                      <a16:colId xmlns:a16="http://schemas.microsoft.com/office/drawing/2014/main" xmlns="" val="166576671"/>
                    </a:ext>
                  </a:extLst>
                </a:gridCol>
                <a:gridCol w="1916206">
                  <a:extLst>
                    <a:ext uri="{9D8B030D-6E8A-4147-A177-3AD203B41FA5}">
                      <a16:colId xmlns:a16="http://schemas.microsoft.com/office/drawing/2014/main" xmlns="" val="946789180"/>
                    </a:ext>
                  </a:extLst>
                </a:gridCol>
                <a:gridCol w="1596838">
                  <a:extLst>
                    <a:ext uri="{9D8B030D-6E8A-4147-A177-3AD203B41FA5}">
                      <a16:colId xmlns:a16="http://schemas.microsoft.com/office/drawing/2014/main" xmlns="" val="3483638722"/>
                    </a:ext>
                  </a:extLst>
                </a:gridCol>
                <a:gridCol w="1498249">
                  <a:extLst>
                    <a:ext uri="{9D8B030D-6E8A-4147-A177-3AD203B41FA5}">
                      <a16:colId xmlns:a16="http://schemas.microsoft.com/office/drawing/2014/main" xmlns="" val="1190061112"/>
                    </a:ext>
                  </a:extLst>
                </a:gridCol>
                <a:gridCol w="1978090">
                  <a:extLst>
                    <a:ext uri="{9D8B030D-6E8A-4147-A177-3AD203B41FA5}">
                      <a16:colId xmlns:a16="http://schemas.microsoft.com/office/drawing/2014/main" xmlns="" val="3469305604"/>
                    </a:ext>
                  </a:extLst>
                </a:gridCol>
                <a:gridCol w="1586204">
                  <a:extLst>
                    <a:ext uri="{9D8B030D-6E8A-4147-A177-3AD203B41FA5}">
                      <a16:colId xmlns:a16="http://schemas.microsoft.com/office/drawing/2014/main" xmlns="" val="3853106642"/>
                    </a:ext>
                  </a:extLst>
                </a:gridCol>
                <a:gridCol w="1492897">
                  <a:extLst>
                    <a:ext uri="{9D8B030D-6E8A-4147-A177-3AD203B41FA5}">
                      <a16:colId xmlns:a16="http://schemas.microsoft.com/office/drawing/2014/main" xmlns="" val="1601472594"/>
                    </a:ext>
                  </a:extLst>
                </a:gridCol>
              </a:tblGrid>
              <a:tr h="459729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Journal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</a:rPr>
                        <a:t> Name &amp; Year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37051210"/>
                  </a:ext>
                </a:extLst>
              </a:tr>
              <a:tr h="17752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HMPD: A Novel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Datasaet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Microplastics Classification with Digital Holography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Teresa Cacace, Marco Del-Coco, Pierluigi Carcagnì, Mariacristina Cocca, Melania Paturzo, and Cosimo Distante (2023), Springer Nature Switzerland AG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Springer, 2023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Holographic post-processing and object detection on amplitude and phase images using Gaussian Mixture Model (GMM).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first large holographic dataset (HMPD) for microplastic classification; provided benchmark for DL models.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limited to classification only; lacks segmentation and real-world validation.</a:t>
                      </a:r>
                      <a:endParaRPr lang="en-US" sz="14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2925414"/>
                  </a:ext>
                </a:extLst>
              </a:tr>
              <a:tr h="1476378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Classification of Microplastics Through Image Fusion Techniques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Russo,</a:t>
                      </a:r>
                    </a:p>
                    <a:p>
                      <a:pPr algn="ctr"/>
                      <a:r>
                        <a:rPr lang="it-IT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C. D. Ciaccio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Marine Pollution Bulletin,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amplitude and phase holographic images using HSL color space for richer spatial and spectral features.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96.4% recall and 93.2% precision with CNNs like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ResNet18.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hierarchical or transformer-based attention; limited generalization to natural data.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8835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72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981" y="747551"/>
            <a:ext cx="10173182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xmlns="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D5492C34-DF62-E3B9-3F6C-997B49ACC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292891"/>
              </p:ext>
            </p:extLst>
          </p:nvPr>
        </p:nvGraphicFramePr>
        <p:xfrm>
          <a:off x="838200" y="1806734"/>
          <a:ext cx="10817505" cy="447306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49424">
                  <a:extLst>
                    <a:ext uri="{9D8B030D-6E8A-4147-A177-3AD203B41FA5}">
                      <a16:colId xmlns:a16="http://schemas.microsoft.com/office/drawing/2014/main" xmlns="" val="166576671"/>
                    </a:ext>
                  </a:extLst>
                </a:gridCol>
                <a:gridCol w="2101553">
                  <a:extLst>
                    <a:ext uri="{9D8B030D-6E8A-4147-A177-3AD203B41FA5}">
                      <a16:colId xmlns:a16="http://schemas.microsoft.com/office/drawing/2014/main" xmlns="" val="946789180"/>
                    </a:ext>
                  </a:extLst>
                </a:gridCol>
                <a:gridCol w="1619217">
                  <a:extLst>
                    <a:ext uri="{9D8B030D-6E8A-4147-A177-3AD203B41FA5}">
                      <a16:colId xmlns:a16="http://schemas.microsoft.com/office/drawing/2014/main" xmlns="" val="3483638722"/>
                    </a:ext>
                  </a:extLst>
                </a:gridCol>
                <a:gridCol w="1670352">
                  <a:extLst>
                    <a:ext uri="{9D8B030D-6E8A-4147-A177-3AD203B41FA5}">
                      <a16:colId xmlns:a16="http://schemas.microsoft.com/office/drawing/2014/main" xmlns="" val="1190061112"/>
                    </a:ext>
                  </a:extLst>
                </a:gridCol>
                <a:gridCol w="1724860">
                  <a:extLst>
                    <a:ext uri="{9D8B030D-6E8A-4147-A177-3AD203B41FA5}">
                      <a16:colId xmlns:a16="http://schemas.microsoft.com/office/drawing/2014/main" xmlns="" val="3469305604"/>
                    </a:ext>
                  </a:extLst>
                </a:gridCol>
                <a:gridCol w="1692853">
                  <a:extLst>
                    <a:ext uri="{9D8B030D-6E8A-4147-A177-3AD203B41FA5}">
                      <a16:colId xmlns:a16="http://schemas.microsoft.com/office/drawing/2014/main" xmlns="" val="3853106642"/>
                    </a:ext>
                  </a:extLst>
                </a:gridCol>
                <a:gridCol w="1559246">
                  <a:extLst>
                    <a:ext uri="{9D8B030D-6E8A-4147-A177-3AD203B41FA5}">
                      <a16:colId xmlns:a16="http://schemas.microsoft.com/office/drawing/2014/main" xmlns="" val="1601472594"/>
                    </a:ext>
                  </a:extLst>
                </a:gridCol>
              </a:tblGrid>
              <a:tr h="544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37051210"/>
                  </a:ext>
                </a:extLst>
              </a:tr>
              <a:tr h="129041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Microplastic Segmentation and Detection Using Deep Learning with Annotated Image Dataset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Z. Lee,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S. Lee, H. Kim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annotated segmentation dataset; applied U-Net and EfficientNetV2.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89.2% F1-score and 63.14% </a:t>
                      </a:r>
                      <a:r>
                        <a:rPr lang="en-US" sz="1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mIoU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improved segmentation accuracy.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Struggled with detecting very small particles; high sensitivity to background noise.</a:t>
                      </a:r>
                      <a:endParaRPr lang="en-US" sz="14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2925414"/>
                  </a:ext>
                </a:extLst>
              </a:tr>
              <a:tr h="108968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Microplastic Identification Using AI-Driven Image Segmentation and GAN-Generated Ecological Context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Dils, M. Metz, G. Montavon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GANs 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synthetic data augmentation.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F1-score from 0.82 to 0.91 by generating realistic microplastic samples.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Synthetic images may not fully represent real-world holographic noise.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88357853"/>
                  </a:ext>
                </a:extLst>
              </a:tr>
              <a:tr h="1445299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FTIR-Based Microplastic Classification: A Comprehensive Study on Normalization and ML Techniques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Zhu, X. Wang, L. Feng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2024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transfer learning and input compression to optimize model features.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accuracy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reduced channel redundancy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RGB images; lacks phase-amplitude holographic fusion.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43099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40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866923"/>
            <a:ext cx="10173182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xmlns="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D5492C34-DF62-E3B9-3F6C-997B49ACC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92924"/>
              </p:ext>
            </p:extLst>
          </p:nvPr>
        </p:nvGraphicFramePr>
        <p:xfrm>
          <a:off x="685264" y="1951038"/>
          <a:ext cx="11126272" cy="39624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82114">
                  <a:extLst>
                    <a:ext uri="{9D8B030D-6E8A-4147-A177-3AD203B41FA5}">
                      <a16:colId xmlns:a16="http://schemas.microsoft.com/office/drawing/2014/main" xmlns="" val="166576671"/>
                    </a:ext>
                  </a:extLst>
                </a:gridCol>
                <a:gridCol w="1860768">
                  <a:extLst>
                    <a:ext uri="{9D8B030D-6E8A-4147-A177-3AD203B41FA5}">
                      <a16:colId xmlns:a16="http://schemas.microsoft.com/office/drawing/2014/main" xmlns="" val="946789180"/>
                    </a:ext>
                  </a:extLst>
                </a:gridCol>
                <a:gridCol w="1803042">
                  <a:extLst>
                    <a:ext uri="{9D8B030D-6E8A-4147-A177-3AD203B41FA5}">
                      <a16:colId xmlns:a16="http://schemas.microsoft.com/office/drawing/2014/main" xmlns="" val="3483638722"/>
                    </a:ext>
                  </a:extLst>
                </a:gridCol>
                <a:gridCol w="1545465">
                  <a:extLst>
                    <a:ext uri="{9D8B030D-6E8A-4147-A177-3AD203B41FA5}">
                      <a16:colId xmlns:a16="http://schemas.microsoft.com/office/drawing/2014/main" xmlns="" val="1190061112"/>
                    </a:ext>
                  </a:extLst>
                </a:gridCol>
                <a:gridCol w="1983346">
                  <a:extLst>
                    <a:ext uri="{9D8B030D-6E8A-4147-A177-3AD203B41FA5}">
                      <a16:colId xmlns:a16="http://schemas.microsoft.com/office/drawing/2014/main" xmlns="" val="3469305604"/>
                    </a:ext>
                  </a:extLst>
                </a:gridCol>
                <a:gridCol w="1622738">
                  <a:extLst>
                    <a:ext uri="{9D8B030D-6E8A-4147-A177-3AD203B41FA5}">
                      <a16:colId xmlns:a16="http://schemas.microsoft.com/office/drawing/2014/main" xmlns="" val="3853106642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xmlns="" val="1601472594"/>
                    </a:ext>
                  </a:extLst>
                </a:gridCol>
              </a:tblGrid>
              <a:tr h="57186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37051210"/>
                  </a:ext>
                </a:extLst>
              </a:tr>
              <a:tr h="1458042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Handy Open-Source Application Based on Computer Vision and Machine Learning Algorithms to Count and Classify Microplastics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Issaiy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Zarei, </a:t>
                      </a:r>
                      <a:r>
                        <a:rPr lang="en-IN" sz="1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Kolahi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Liebeskind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2024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ML/DL preprocessing and models (SMOTE, normalization, DL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&amp; DL methods outperform traditional scoring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transparency and reproducibility in reviewed studies</a:t>
                      </a:r>
                      <a:endParaRPr lang="en-US" sz="14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2925414"/>
                  </a:ext>
                </a:extLst>
              </a:tr>
              <a:tr h="90480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Morphological Detection and Classification of Microplastics and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Nanoplastics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Emerged from Consumer Products by Deep Learning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Saeed Mohsen &amp; Ahmed Gomaa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Multimedia Tools &amp; Applications (Springer), 2025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 with data cleaning &amp; imbalance handling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testing accuracy, precision, recall, and F1-score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 (n=4,981); possible overfitting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8835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2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18" y="381884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536F849-D52C-68D8-E80B-B72417F20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018" y="1845018"/>
            <a:ext cx="1043910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microplastic datasets.</a:t>
            </a: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CNNs fail to capture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global context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fine holographic textures.</a:t>
            </a: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fusion-based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approaches combining amplitude and phase data.</a:t>
            </a: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real-time, scalable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frameworks.</a:t>
            </a: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Need for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environment-ready transformer architectures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with better precision and recall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14C75DE7-4F40-3E0D-89EF-47B294E333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06686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xmlns="" id="{EAB03709-E792-7B0C-1BAE-A846EDE269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16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0" y="1426974"/>
            <a:ext cx="9523445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 framework capable of accurately classifying holographic microplastic images using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fused amplitude and phase information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Problem: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automated microplastic monitoring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 aquatic environments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manual inspection.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Promotes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pollution tracking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with high accuracy and robustness.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3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230410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69DBB056-A953-2816-3FA2-F26FDCA895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74794"/>
            <a:ext cx="991844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automated Swin Transformer V2-based model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microplastic classification.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fuse amplitude and phase images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HSL color space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rich feature extraction.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enhance model generalization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via data augmentation and balanced datasets.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None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using metrics like accuracy, precision, recall, F1, and ROC-AUC.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Swin Transformer V2 with CNN-based models (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AlexNet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ResNet18, VGG11).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3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494" y="756356"/>
            <a:ext cx="7489282" cy="1007130"/>
          </a:xfrm>
        </p:spPr>
        <p:txBody>
          <a:bodyPr>
            <a:norm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OR FLOW DIAGRAM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4D3D977-114D-AEB5-3DCA-27AF33273A02}"/>
              </a:ext>
            </a:extLst>
          </p:cNvPr>
          <p:cNvSpPr txBox="1"/>
          <p:nvPr/>
        </p:nvSpPr>
        <p:spPr>
          <a:xfrm>
            <a:off x="1155032" y="2037347"/>
            <a:ext cx="10026315" cy="4064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74A25F4-F8D8-8B62-FFFD-E88A57FA26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258008"/>
            <a:ext cx="10591800" cy="297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29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1AB23640-4FCB-841B-C599-F035B2151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65" y="1147665"/>
            <a:ext cx="10663335" cy="502929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Used the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Holographic Microplastic Dataset (HMPD)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paired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amplitude and phase images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labeled as microplastic or non-microplastic.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Fusion (HSL Conversion):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Converted amplitude and phase images to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HSL color space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enhanced color and texture representation.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Mapping: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 = Amplitude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 = Phase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 = 0.5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(constant brightness).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endParaRPr lang="en-US" sz="2400"/>
          </a:p>
          <a:p>
            <a:endParaRPr lang="en-IN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1E018CD0-E903-F230-ACC3-17F5F98A3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049180"/>
              </p:ext>
            </p:extLst>
          </p:nvPr>
        </p:nvGraphicFramePr>
        <p:xfrm>
          <a:off x="2713652" y="4073963"/>
          <a:ext cx="7268548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634274">
                  <a:extLst>
                    <a:ext uri="{9D8B030D-6E8A-4147-A177-3AD203B41FA5}">
                      <a16:colId xmlns:a16="http://schemas.microsoft.com/office/drawing/2014/main" xmlns="" val="1472759434"/>
                    </a:ext>
                  </a:extLst>
                </a:gridCol>
                <a:gridCol w="3634274">
                  <a:extLst>
                    <a:ext uri="{9D8B030D-6E8A-4147-A177-3AD203B41FA5}">
                      <a16:colId xmlns:a16="http://schemas.microsoft.com/office/drawing/2014/main" xmlns="" val="688113809"/>
                    </a:ext>
                  </a:extLst>
                </a:gridCol>
              </a:tblGrid>
              <a:tr h="362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057995520"/>
                  </a:ext>
                </a:extLst>
              </a:tr>
              <a:tr h="362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Resize (256×256)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Standardizes image size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4060854197"/>
                  </a:ext>
                </a:extLst>
              </a:tr>
              <a:tr h="362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Flip &amp; Rotation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Increases data diversity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023617067"/>
                  </a:ext>
                </a:extLst>
              </a:tr>
              <a:tr h="362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err="1"/>
                        <a:t>Color</a:t>
                      </a:r>
                      <a:r>
                        <a:rPr lang="en-IN"/>
                        <a:t> Jittering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Simulates lighting variation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3212678086"/>
                  </a:ext>
                </a:extLst>
              </a:tr>
              <a:tr h="362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Tensor Conversion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Converts images to model format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3862488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576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38C493-31EB-960D-3D79-C1DB3A7E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984F7E22-18A3-36EB-65B3-D05F5BEF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0109E7-483D-3F5F-9DE8-17EE3DE4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C7615D7-44BA-BE01-F9F5-97EBCF9F6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B2567BC-B3C5-E58C-98C5-D1C69612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689C531C-02F5-70B3-C47E-17A61036F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65" y="1147665"/>
            <a:ext cx="10663335" cy="502929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Before </a:t>
            </a:r>
            <a:r>
              <a:rPr lang="en-US" dirty="0" err="1"/>
              <a:t>PreProcessing</a:t>
            </a:r>
            <a:r>
              <a:rPr lang="en-US" dirty="0"/>
              <a:t>                          After Preprocessing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088B655-1DBE-35F4-7947-0286B514B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02" y="2863502"/>
            <a:ext cx="4229084" cy="30630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20D4CE5-AFD3-9267-89E7-76F9CAF98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986" y="2948474"/>
            <a:ext cx="3387320" cy="288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11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E11839D7-C322-78C3-230F-3B6D4C28B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0809" y="1490700"/>
            <a:ext cx="11158015" cy="232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V2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 vision transformer with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shifted window attention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local and global feature learning.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  <a:p>
            <a:pPr marL="0" indent="0">
              <a:buNone/>
            </a:pPr>
            <a:endParaRPr lang="en-IN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B37DFB0-2EB0-9E18-4671-DCB4693D458D}"/>
              </a:ext>
            </a:extLst>
          </p:cNvPr>
          <p:cNvSpPr txBox="1"/>
          <p:nvPr/>
        </p:nvSpPr>
        <p:spPr>
          <a:xfrm>
            <a:off x="1946672" y="472203"/>
            <a:ext cx="84662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	        METHODOLOGY</a:t>
            </a:r>
            <a:endParaRPr lang="en-IN" sz="3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5C19EFE-3D28-57CE-A68C-9BA2EB6CE9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6997" y="3620277"/>
            <a:ext cx="9806472" cy="273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9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70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15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D41BC027-4AE0-E92D-F159-E9E65D004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6933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Image fusion and preprocessing (resize, flip, rotation, color jittering)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amplitude and phase to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HSL color space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dataset into 80% training and 20% validation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using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V2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with cross-entropy loss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using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F1-score, and ROC Curve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training/validation accuracy and loss trends</a:t>
            </a:r>
          </a:p>
        </p:txBody>
      </p:sp>
    </p:spTree>
    <p:extLst>
      <p:ext uri="{BB962C8B-B14F-4D97-AF65-F5344CB8AC3E}">
        <p14:creationId xmlns:p14="http://schemas.microsoft.com/office/powerpoint/2010/main" val="3365864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7700"/>
            <a:ext cx="105156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2700"/>
            <a:ext cx="10871200" cy="4894263"/>
          </a:xfrm>
        </p:spPr>
        <p:txBody>
          <a:bodyPr>
            <a:normAutofit/>
          </a:bodyPr>
          <a:lstStyle/>
          <a:p>
            <a:pPr>
              <a:buNone/>
              <a:tabLst>
                <a:tab pos="3860800" algn="l"/>
                <a:tab pos="54737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1041400">
              <a:tabLst>
                <a:tab pos="3860800" algn="l"/>
                <a:tab pos="54737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	:	intel Core i5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1790700">
              <a:tabLst>
                <a:tab pos="3860800" algn="l"/>
                <a:tab pos="54737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	:	4MB(Megabyte)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12.7GB (gigabyte)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166.8GB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Engine      	:	 T4 GPU</a:t>
            </a:r>
          </a:p>
          <a:p>
            <a:pPr lvl="0">
              <a:buNone/>
              <a:tabLst>
                <a:tab pos="3860800" algn="l"/>
                <a:tab pos="54737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Windows 10, 64-bit Operating System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Language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Python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distribution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	Google Colab , Flask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	: 	Any Latest Browser like Chrome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497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-59612"/>
            <a:ext cx="5133392" cy="787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  Vs Overcomes</a:t>
            </a:r>
            <a:endParaRPr lang="en-IN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7237640"/>
              </p:ext>
            </p:extLst>
          </p:nvPr>
        </p:nvGraphicFramePr>
        <p:xfrm>
          <a:off x="529389" y="727788"/>
          <a:ext cx="11283167" cy="5090981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6288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543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03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Challenges Faced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Solutions Implemented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Faced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They Were Overcome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7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Limited dataset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The HMPD dataset contained a restricted number of amplitude and phase image pairs, which could limit model generalization.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augmentation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techniques (rotation, flipping, color jittering) to enlarge the dataset and improve model robustness.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43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Low contrast in holographic images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Raw amplitude and phase images lacked clarity, making microplastics difficult to distinguish.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HSL fusion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(H = Amplitude, S = Phase, L = 0.5) to enhance contrast, color, and texture representation.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43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High computational complexity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Vision transformers can be computationally heavy on large images.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Utilized the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 Transformer V2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architecture with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shifted-window attention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which reduces computation from quadratic to linear complexity.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40688373"/>
                  </a:ext>
                </a:extLst>
              </a:tr>
              <a:tr h="743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Performance evaluation and explainability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Difficult to assess how effectively the model identified true microplastics.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comprehensive metrics (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Precision, Recall, F1-Score, ROC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and visualized results with confusion matrix and ROC curve.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6694763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249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Frontend</a:t>
            </a:r>
            <a:endParaRPr lang="en-I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18</a:t>
            </a:fld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68A1DDC1-3395-4ED8-C7EA-5CA0ECBF2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718" y="1825625"/>
            <a:ext cx="8684563" cy="4351338"/>
          </a:xfrm>
        </p:spPr>
      </p:pic>
    </p:spTree>
    <p:extLst>
      <p:ext uri="{BB962C8B-B14F-4D97-AF65-F5344CB8AC3E}">
        <p14:creationId xmlns:p14="http://schemas.microsoft.com/office/powerpoint/2010/main" val="937651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108B5B-8009-EBCC-5307-7EF620497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127E7CF-A531-7104-9A22-CD661821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334FF43-B1E7-2A42-B912-F6BB0BDC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19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F85FC2-6F4A-930B-3B64-312DAB390CD3}"/>
              </a:ext>
            </a:extLst>
          </p:cNvPr>
          <p:cNvSpPr txBox="1"/>
          <p:nvPr/>
        </p:nvSpPr>
        <p:spPr>
          <a:xfrm>
            <a:off x="2872273" y="649188"/>
            <a:ext cx="7760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Frontend</a:t>
            </a:r>
            <a:endParaRPr lang="en-IN" sz="4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E602E42-0D1D-C0A3-AE95-45438EB7D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80"/>
            <a:ext cx="3905416" cy="6009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95963EC-0481-158B-397A-2F3716A04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66" y="1357074"/>
            <a:ext cx="5481734" cy="4651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E8CAD3F-9252-079F-4B78-DBEB57D04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151" y="1586204"/>
            <a:ext cx="6757236" cy="418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6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FAA0B73-6CA5-E775-F5C6-1BFF6189A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A09B01B-71CE-0B80-2644-CB49A8E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AE3A1CB-EF01-93C1-A86A-38F8BD63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20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8CDCD86D-4A7E-74DD-5207-DFABDE68309A}"/>
              </a:ext>
            </a:extLst>
          </p:cNvPr>
          <p:cNvSpPr txBox="1"/>
          <p:nvPr/>
        </p:nvSpPr>
        <p:spPr>
          <a:xfrm>
            <a:off x="2691078" y="692375"/>
            <a:ext cx="6809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Frontend</a:t>
            </a:r>
            <a:endParaRPr lang="en-IN" sz="4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293FE92-8B18-F71D-75BB-C2D407E11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80"/>
            <a:ext cx="3762900" cy="579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7BEE3B8-83AA-E6BB-EDA8-E357463B9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05" y="1416940"/>
            <a:ext cx="10353869" cy="493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73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6E69651-936A-290A-1779-9373FACA1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7228ED4-FDED-DAA7-FD41-5D6B002B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C8A989-489E-4ED0-0172-DD62B5D2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68F7FB3-8A57-3F6D-5664-7A1CDACED8C1}"/>
              </a:ext>
            </a:extLst>
          </p:cNvPr>
          <p:cNvSpPr txBox="1"/>
          <p:nvPr/>
        </p:nvSpPr>
        <p:spPr>
          <a:xfrm>
            <a:off x="3048964" y="765685"/>
            <a:ext cx="76159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4000" b="1" kern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Implementation of Frontend</a:t>
            </a:r>
            <a:endParaRPr lang="en-IN" sz="400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7097839-7649-0E7F-C454-6C9F691B1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80"/>
            <a:ext cx="3762900" cy="5790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3A9A843-FA7C-F6D0-2078-3A671E53D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620" y="1473571"/>
            <a:ext cx="9588759" cy="481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63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3D4478-3721-6AB6-C054-82FDBF97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6D1FA8B-8020-67A9-5C6D-A4AC1245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718714A-EE37-3068-FCD9-7A8F21EB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3634496-C5F9-EE07-6168-21A113FC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2F82090-2460-6556-59FB-A3EA0EB96D5D}"/>
              </a:ext>
            </a:extLst>
          </p:cNvPr>
          <p:cNvSpPr txBox="1"/>
          <p:nvPr/>
        </p:nvSpPr>
        <p:spPr>
          <a:xfrm>
            <a:off x="2939544" y="732319"/>
            <a:ext cx="78093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4000" b="1" kern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Implementation of Frontend</a:t>
            </a:r>
            <a:endParaRPr lang="en-IN" sz="400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721A86C-C33B-FE58-0D84-1436C5E68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80"/>
            <a:ext cx="3762900" cy="5790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CB25FAD-277A-B606-8CC7-8728A6355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135" y="1351510"/>
            <a:ext cx="9644743" cy="486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30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DDA180-9E21-7926-7187-21D98461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3851F5C-9370-3969-9611-4F682ABC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D69766E-B85C-30A6-26A8-71200955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416B27A-6D2C-FCFE-1194-85D70F97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62EA448-C78F-63C1-165F-3C96EA3DD251}"/>
              </a:ext>
            </a:extLst>
          </p:cNvPr>
          <p:cNvSpPr txBox="1"/>
          <p:nvPr/>
        </p:nvSpPr>
        <p:spPr>
          <a:xfrm>
            <a:off x="2939544" y="732319"/>
            <a:ext cx="78093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4000" b="1" kern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Implementation of Frontend</a:t>
            </a:r>
            <a:endParaRPr lang="en-IN" sz="400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7A19A37-4219-CFBB-43B2-E66C2AA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80"/>
            <a:ext cx="3762900" cy="579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D447C66-AD83-F5A1-CA53-5D67B8E915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59" y="2074686"/>
            <a:ext cx="5968482" cy="3027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67D560-6E74-59B3-A5FB-3FE005BD83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17439" b="-1"/>
          <a:stretch>
            <a:fillRect/>
          </a:stretch>
        </p:blipFill>
        <p:spPr>
          <a:xfrm>
            <a:off x="6747141" y="2074686"/>
            <a:ext cx="5197748" cy="31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11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5118"/>
            <a:ext cx="10515600" cy="726142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 b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24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73A98140-ED7A-5BB4-A1E3-EBAEE1D15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555" y="1636281"/>
            <a:ext cx="6363478" cy="3224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C10CA5A-B273-675A-E8F3-5A584BF30BED}"/>
              </a:ext>
            </a:extLst>
          </p:cNvPr>
          <p:cNvSpPr txBox="1"/>
          <p:nvPr/>
        </p:nvSpPr>
        <p:spPr>
          <a:xfrm>
            <a:off x="1570653" y="4808581"/>
            <a:ext cx="905069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HSL fusion improves contrast and feature clarity.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V2 achieves highest precision (94.6%) and stable accuracy (~91%).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07255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0306"/>
            <a:ext cx="10515600" cy="900953"/>
          </a:xfrm>
        </p:spPr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25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70647" y="1781175"/>
            <a:ext cx="54422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xmlns="" id="{19AF1F62-94A4-E47E-DF97-BF5912F0E21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9114" y="1903445"/>
            <a:ext cx="5074686" cy="40327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DDCD7AB-4E69-E7C8-2BC0-D8C848E2482D}"/>
              </a:ext>
            </a:extLst>
          </p:cNvPr>
          <p:cNvSpPr txBox="1"/>
          <p:nvPr/>
        </p:nvSpPr>
        <p:spPr>
          <a:xfrm>
            <a:off x="653761" y="1903445"/>
            <a:ext cx="54422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accuracies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the Swin Transformer V2 model steadily increased, reaching around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91–93%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showing effective learning.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curves are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closely aligned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good generalization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 overfitting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during training.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372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0306"/>
            <a:ext cx="10515600" cy="900953"/>
          </a:xfrm>
        </p:spPr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26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70647" y="1781175"/>
            <a:ext cx="498885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xmlns="" id="{932F37A7-C375-B90C-F3F4-06B0AF922E2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4943" y="1959429"/>
            <a:ext cx="4988858" cy="36482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6D808B50-9771-2B23-B496-D574DBAE188B}"/>
              </a:ext>
            </a:extLst>
          </p:cNvPr>
          <p:cNvSpPr txBox="1"/>
          <p:nvPr/>
        </p:nvSpPr>
        <p:spPr>
          <a:xfrm>
            <a:off x="470647" y="2299047"/>
            <a:ext cx="576220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losses</a:t>
            </a:r>
            <a:r>
              <a:rPr lang="en-US" sz="20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continuously decrease over 40 epochs, showing that the </a:t>
            </a:r>
            <a:r>
              <a:rPr lang="en-US" sz="2000" b="1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V2</a:t>
            </a:r>
            <a:r>
              <a:rPr lang="en-US" sz="20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model learns effectively with each iteration.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200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curves converge near </a:t>
            </a:r>
            <a:r>
              <a:rPr lang="en-US" sz="2000" b="1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r>
              <a:rPr lang="en-US" sz="20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the validation loss stays lower than the training loss — indicating </a:t>
            </a:r>
            <a:r>
              <a:rPr lang="en-US" sz="2000" b="1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generalization</a:t>
            </a:r>
            <a:r>
              <a:rPr lang="en-US" sz="20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1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overfitting</a:t>
            </a:r>
            <a:r>
              <a:rPr lang="en-US" sz="2000" b="0" i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1017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0306"/>
            <a:ext cx="10515600" cy="900953"/>
          </a:xfrm>
        </p:spPr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27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013" y="1744825"/>
            <a:ext cx="5740795" cy="45194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model’s ability to distinguish between microplastic and non-microplastic samples, with an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AUC value of 0.979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excellent classification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curve is close to the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top-left corner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 model achieves a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 true positive rate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a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low false positive rate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A367F5A-2A85-24D0-DD44-0CA7E9CF1B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20391" y="1744826"/>
            <a:ext cx="4450987" cy="403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5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2FF8D7-6453-1D93-D07E-6C90B8F6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F27B72-0136-9172-90F2-691F2DB31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0306"/>
            <a:ext cx="10515600" cy="900953"/>
          </a:xfrm>
        </p:spPr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8017AC-97B6-4979-376B-5567FC73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0869FB-6069-F0BA-9DC0-17C98CC2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C7B1D7-5B17-24DD-6E04-995469F44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28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855EC9-3D4F-D291-8C13-A2EA9153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013" y="1847461"/>
            <a:ext cx="5463987" cy="441681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Swin Transformer V2 model correctly classified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615 microplastic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593 non-microplastic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samples, showing strong accuracy in both categories.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small number of misclassifications (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75 false positives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35 false negatives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indicates the model is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highly reliable and consistent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C2A60CB-2642-F882-4CEF-01F2A69B28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806" y="1847461"/>
            <a:ext cx="4481904" cy="37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963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5003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29</a:t>
            </a:fld>
            <a:endParaRPr lang="en-IN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6531" y="1774891"/>
            <a:ext cx="11010123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V2 successfully classifies holographic microplastics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91.65%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traditional CNNs by ~6%.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HSL fusion enhances spatial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details.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of Vision Transformers for environmental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diverse real-world microplastic types and water samples.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field monitoring devices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microplastic categorization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for edge or IoT deployment.</a:t>
            </a:r>
          </a:p>
        </p:txBody>
      </p:sp>
    </p:spTree>
    <p:extLst>
      <p:ext uri="{BB962C8B-B14F-4D97-AF65-F5344CB8AC3E}">
        <p14:creationId xmlns:p14="http://schemas.microsoft.com/office/powerpoint/2010/main" val="1783655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2032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30</a:t>
            </a:fld>
            <a:endParaRPr lang="en-IN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C4CE00FC-7C9E-C8BB-D924-6CFCB3F6DB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629" y="1087158"/>
            <a:ext cx="12061371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Liu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V2: Scaling Up Capacity and Resolution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IEEE/CVF Conference on Computer Vision and Pattern Recognition (CVPR)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12009–12019, 2022.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Dosovitskiy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Image is Worth 16×16 Words: Transformers for Image Recognition at Scale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Learning Representations (ICLR)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Russo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Microplastic Classification in Holographic Images Using Swin Transformer V2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24, no. 5, pp. 1–17, 2024.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Chen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Survey on Vision Transformers in Computer Vision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Neural Networks and Learning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35, no. 2, pp. 1550–1571, 2023.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Li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Microplastic Detection and Classification: Challenges and Perspectives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Science &amp; Technology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57, no. 6, pp. 2561–2574, 2023.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Zhang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Mechanisms in Environmental Image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pp. 12045–12059,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51012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ACKNOWLEDGEMENTS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565" y="1573306"/>
            <a:ext cx="11066929" cy="4783044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express our sincere gratitude to the faculty and staff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for their guidance and encouragement throughout the development of this project. Their insights and expertise have been invaluable.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extend our thanks to the administration for providing the necessary resources and a platform to showcase our work. This opportunity has been instrumental in enhancing our learning and growth.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questions or further discussions, feel free to reach out:-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No:BG9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Mabanu Sampath Kumar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No’s: 22471A05C2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22471A05B0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22471A05C5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Thank You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06-12-2025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02        Batch No. BG9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599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BG9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E40E4EB-4ECD-17B6-333E-19F5E4D33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90" y="1447523"/>
            <a:ext cx="6230219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3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3994</TotalTime>
  <Words>2227</Words>
  <Application>Microsoft Office PowerPoint</Application>
  <PresentationFormat>Widescreen</PresentationFormat>
  <Paragraphs>366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ui-sans-serif</vt:lpstr>
      <vt:lpstr>Wingdings</vt:lpstr>
      <vt:lpstr>Office Theme</vt:lpstr>
      <vt:lpstr>PowerPoint Presentation</vt:lpstr>
      <vt:lpstr>OUTLINE</vt:lpstr>
      <vt:lpstr>ABSTRACT</vt:lpstr>
      <vt:lpstr>INTRODUCTION</vt:lpstr>
      <vt:lpstr>LITERATURE SURVEY</vt:lpstr>
      <vt:lpstr>LITERATURE SURVEY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METHODOLOGY</vt:lpstr>
      <vt:lpstr>PowerPoint Presentation</vt:lpstr>
      <vt:lpstr>Implementation</vt:lpstr>
      <vt:lpstr>System Requirements</vt:lpstr>
      <vt:lpstr>Challenges  Vs Overcomes</vt:lpstr>
      <vt:lpstr>Implementation of Frontend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RESULTS &amp; ANALYSIS</vt:lpstr>
      <vt:lpstr>RESULTS &amp; ANALYSIS</vt:lpstr>
      <vt:lpstr>RESULTS &amp; ANALYSIS</vt:lpstr>
      <vt:lpstr>RESULTS &amp; ANALYSIS</vt:lpstr>
      <vt:lpstr>RESULTS &amp; ANALYSIS</vt:lpstr>
      <vt:lpstr>CONCLUSION &amp; FUTURE SCOPE</vt:lpstr>
      <vt:lpstr>REFERENCES</vt:lpstr>
      <vt:lpstr>            ACKNOWLEDGEMENTS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admin</dc:creator>
  <cp:lastModifiedBy>Microsoft account</cp:lastModifiedBy>
  <cp:revision>125</cp:revision>
  <dcterms:created xsi:type="dcterms:W3CDTF">2023-12-22T11:34:02Z</dcterms:created>
  <dcterms:modified xsi:type="dcterms:W3CDTF">2026-02-05T06:05:28Z</dcterms:modified>
</cp:coreProperties>
</file>