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81" r:id="rId2"/>
    <p:sldId id="260" r:id="rId3"/>
    <p:sldId id="262" r:id="rId4"/>
    <p:sldId id="279" r:id="rId5"/>
    <p:sldId id="311" r:id="rId6"/>
    <p:sldId id="312" r:id="rId7"/>
    <p:sldId id="263" r:id="rId8"/>
    <p:sldId id="280" r:id="rId9"/>
    <p:sldId id="285" r:id="rId10"/>
    <p:sldId id="265" r:id="rId11"/>
    <p:sldId id="270" r:id="rId12"/>
    <p:sldId id="313" r:id="rId13"/>
    <p:sldId id="266" r:id="rId14"/>
    <p:sldId id="268" r:id="rId15"/>
    <p:sldId id="310" r:id="rId16"/>
    <p:sldId id="269" r:id="rId17"/>
    <p:sldId id="306" r:id="rId18"/>
    <p:sldId id="283" r:id="rId19"/>
    <p:sldId id="288" r:id="rId20"/>
    <p:sldId id="289" r:id="rId21"/>
    <p:sldId id="290" r:id="rId22"/>
    <p:sldId id="291" r:id="rId23"/>
    <p:sldId id="301" r:id="rId24"/>
    <p:sldId id="314" r:id="rId25"/>
    <p:sldId id="302" r:id="rId26"/>
    <p:sldId id="303" r:id="rId27"/>
    <p:sldId id="304" r:id="rId28"/>
    <p:sldId id="309" r:id="rId29"/>
    <p:sldId id="315" r:id="rId30"/>
    <p:sldId id="292" r:id="rId31"/>
    <p:sldId id="293" r:id="rId32"/>
    <p:sldId id="294" r:id="rId33"/>
    <p:sldId id="295" r:id="rId34"/>
    <p:sldId id="305" r:id="rId35"/>
    <p:sldId id="316" r:id="rId36"/>
    <p:sldId id="296" r:id="rId37"/>
    <p:sldId id="317" r:id="rId38"/>
    <p:sldId id="297" r:id="rId39"/>
    <p:sldId id="298" r:id="rId40"/>
    <p:sldId id="282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7" d="100"/>
          <a:sy n="57" d="100"/>
        </p:scale>
        <p:origin x="283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99655-05E8-4463-9482-2D23FD405AF3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C9CC48-2212-46F0-B96C-6F8104E82434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3851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582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DE0E28-087F-4BBF-B8BC-055CB0BBD464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E3DF0-35B4-40E5-AC91-1A2000F81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551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5E3DF0-35B4-40E5-AC91-1A2000F81275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79212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1652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7802064" cy="438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376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2791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2758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9279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6415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962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1320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2278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4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11-11-2025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9206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11-11-2025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Review No. 02        Batch No. BG11           Department of CSE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DCBD69-296B-4D7C-AF62-9B588FC787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6517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7"/>
          <p:cNvSpPr txBox="1">
            <a:spLocks/>
          </p:cNvSpPr>
          <p:nvPr/>
        </p:nvSpPr>
        <p:spPr>
          <a:xfrm>
            <a:off x="1754154" y="705471"/>
            <a:ext cx="8915400" cy="375925"/>
          </a:xfrm>
          <a:prstGeom prst="roundRect">
            <a:avLst>
              <a:gd name="adj" fmla="val 16667"/>
            </a:avLst>
          </a:prstGeom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lvl="0" algn="ctr">
              <a:spcBef>
                <a:spcPct val="20000"/>
              </a:spcBef>
              <a:defRPr/>
            </a:pPr>
            <a:r>
              <a:rPr lang="en-US" b="1">
                <a:latin typeface="Times New Roman" panose="02020603050405020304" pitchFamily="18" charset="0"/>
                <a:cs typeface="Times New Roman" pitchFamily="18" charset="0"/>
              </a:rPr>
              <a:t>Department of Computer Science and Engineering</a:t>
            </a:r>
          </a:p>
          <a:p>
            <a:pPr algn="ctr"/>
            <a:r>
              <a:rPr lang="en-US"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itchFamily="18" charset="0"/>
              </a:rPr>
              <a:t>Microplastic Classification in Holographic Images Using </a:t>
            </a:r>
          </a:p>
          <a:p>
            <a:pPr algn="ctr"/>
            <a:r>
              <a:rPr lang="en-US"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itchFamily="18" charset="0"/>
              </a:rPr>
              <a:t>Swin Transformer V2</a:t>
            </a:r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1754154" y="1966120"/>
            <a:ext cx="9144000" cy="1341058"/>
          </a:xfrm>
        </p:spPr>
        <p:txBody>
          <a:bodyPr>
            <a:normAutofit lnSpcReduction="10000"/>
          </a:bodyPr>
          <a:lstStyle/>
          <a:p>
            <a:pPr eaLnBrk="1" hangingPunct="1"/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PRESENTED BY</a:t>
            </a:r>
          </a:p>
          <a:p>
            <a:pPr algn="l" eaLnBrk="1" hangingPunct="1"/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		</a:t>
            </a:r>
            <a:r>
              <a:rPr lang="en-US" altLang="en-US" sz="1600" dirty="0">
                <a:latin typeface="Times New Roman" panose="02020603050405020304" pitchFamily="18" charset="0"/>
                <a:cs typeface="Times New Roman" pitchFamily="18" charset="0"/>
              </a:rPr>
              <a:t>    </a:t>
            </a:r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Polisetty Rishitha Sai Sri</a:t>
            </a:r>
            <a:r>
              <a:rPr lang="en-US" altLang="en-US" sz="1600" dirty="0">
                <a:latin typeface="Times New Roman" panose="02020603050405020304" pitchFamily="18" charset="0"/>
                <a:cs typeface="Times New Roman" pitchFamily="18" charset="0"/>
              </a:rPr>
              <a:t>	 (22471A05C2)</a:t>
            </a:r>
            <a:endParaRPr lang="en-US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itchFamily="18" charset="0"/>
            </a:endParaRPr>
          </a:p>
          <a:p>
            <a:pPr algn="l"/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	</a:t>
            </a:r>
            <a:r>
              <a:rPr lang="en-US" altLang="en-US" sz="1600" dirty="0">
                <a:latin typeface="Times New Roman" panose="02020603050405020304" pitchFamily="18" charset="0"/>
                <a:cs typeface="Times New Roman" pitchFamily="18" charset="0"/>
              </a:rPr>
              <a:t>	    </a:t>
            </a:r>
            <a:r>
              <a:rPr lang="en-US" altLang="en-US" sz="1600" dirty="0" err="1">
                <a:latin typeface="Times New Roman" panose="02020603050405020304" pitchFamily="18" charset="0"/>
                <a:cs typeface="Times New Roman" pitchFamily="18" charset="0"/>
              </a:rPr>
              <a:t>Nagasarapu</a:t>
            </a:r>
            <a:r>
              <a:rPr lang="en-US" altLang="en-US" sz="1600" dirty="0">
                <a:latin typeface="Times New Roman" panose="02020603050405020304" pitchFamily="18" charset="0"/>
                <a:cs typeface="Times New Roman" pitchFamily="18" charset="0"/>
              </a:rPr>
              <a:t> Mohana Sri Krupa</a:t>
            </a:r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	 (</a:t>
            </a:r>
            <a:r>
              <a:rPr lang="en-US" altLang="en-US" sz="1600" dirty="0">
                <a:latin typeface="Times New Roman" panose="02020603050405020304" pitchFamily="18" charset="0"/>
                <a:cs typeface="Times New Roman" pitchFamily="18" charset="0"/>
              </a:rPr>
              <a:t>22471A05B0</a:t>
            </a:r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)</a:t>
            </a:r>
          </a:p>
          <a:p>
            <a:pPr algn="l"/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	</a:t>
            </a:r>
            <a:r>
              <a:rPr lang="en-US" altLang="en-US" sz="1600" dirty="0">
                <a:latin typeface="Times New Roman" panose="02020603050405020304" pitchFamily="18" charset="0"/>
                <a:cs typeface="Times New Roman" pitchFamily="18" charset="0"/>
              </a:rPr>
              <a:t> 	    </a:t>
            </a:r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Rayala Lakshmi		 (22471A05C5)</a:t>
            </a:r>
          </a:p>
        </p:txBody>
      </p:sp>
      <p:sp>
        <p:nvSpPr>
          <p:cNvPr id="17" name="Subtitle 2"/>
          <p:cNvSpPr txBox="1">
            <a:spLocks/>
          </p:cNvSpPr>
          <p:nvPr/>
        </p:nvSpPr>
        <p:spPr bwMode="auto">
          <a:xfrm>
            <a:off x="2897154" y="3429000"/>
            <a:ext cx="6858000" cy="25810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spcBef>
                <a:spcPct val="20000"/>
              </a:spcBef>
              <a:buFont typeface="Wingdings" pitchFamily="2" charset="2"/>
              <a:buNone/>
            </a:pPr>
            <a:r>
              <a:rPr lang="en-US" altLang="en-US" dirty="0">
                <a:solidFill>
                  <a:srgbClr val="006600"/>
                </a:solidFill>
                <a:latin typeface="Times New Roman" panose="02020603050405020304" pitchFamily="18" charset="0"/>
                <a:cs typeface="Times New Roman" pitchFamily="18" charset="0"/>
              </a:rPr>
              <a:t>Under the Guidance of,</a:t>
            </a:r>
            <a:endParaRPr lang="en-US" altLang="en-US" b="1" dirty="0">
              <a:solidFill>
                <a:srgbClr val="006600"/>
              </a:solidFill>
              <a:latin typeface="Times New Roman" pitchFamily="18" charset="0"/>
              <a:cs typeface="Times New Roman" pitchFamily="18" charset="0"/>
            </a:endParaRPr>
          </a:p>
          <a:p>
            <a:pPr algn="ctr" eaLnBrk="1" hangingPunct="1">
              <a:spcBef>
                <a:spcPct val="20000"/>
              </a:spcBef>
              <a:buFont typeface="Wingdings" pitchFamily="2" charset="2"/>
              <a:buNone/>
            </a:pPr>
            <a:endParaRPr lang="en-US" altLang="en-US" sz="9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  <a:p>
            <a:pPr algn="ctr">
              <a:spcBef>
                <a:spcPct val="20000"/>
              </a:spcBef>
            </a:pPr>
            <a:r>
              <a:rPr lang="en-US" b="1" kern="10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Madanu </a:t>
            </a:r>
            <a:r>
              <a:rPr lang="en-US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Sampath </a:t>
            </a:r>
            <a:r>
              <a:rPr lang="en-US" b="1" kern="1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Kumar</a:t>
            </a:r>
            <a:r>
              <a:rPr lang="en-US" sz="1800" b="1" kern="10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b="1" kern="100" baseline="-2500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lang="en-US" sz="1800" b="1" kern="100" baseline="-25000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.Tech.,M.Tech.,</a:t>
            </a:r>
            <a:endParaRPr lang="en-IN" sz="1800" b="1" kern="100" baseline="-25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  <a:spcBef>
                <a:spcPct val="20000"/>
              </a:spcBef>
            </a:pPr>
            <a:r>
              <a:rPr lang="en-US" sz="1600" b="1" kern="1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Assistant professor,</a:t>
            </a:r>
            <a:endParaRPr lang="en-US" altLang="en-US" sz="16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algn="ctr" eaLnBrk="1" hangingPunct="1">
              <a:lnSpc>
                <a:spcPct val="150000"/>
              </a:lnSpc>
              <a:spcBef>
                <a:spcPct val="20000"/>
              </a:spcBef>
              <a:buFont typeface="Wingdings" pitchFamily="2" charset="2"/>
              <a:buNone/>
            </a:pPr>
            <a:r>
              <a:rPr lang="en-US" alt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itchFamily="18" charset="0"/>
                <a:cs typeface="Times New Roman" pitchFamily="18" charset="0"/>
              </a:rPr>
              <a:t>Department of Computer Science and Engineering,</a:t>
            </a:r>
          </a:p>
          <a:p>
            <a:pPr algn="ctr" eaLnBrk="1" hangingPunct="1">
              <a:lnSpc>
                <a:spcPct val="150000"/>
              </a:lnSpc>
              <a:spcBef>
                <a:spcPct val="20000"/>
              </a:spcBef>
              <a:buFont typeface="Wingdings" pitchFamily="2" charset="2"/>
              <a:buNone/>
            </a:pPr>
            <a:r>
              <a:rPr lang="en-US" alt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itchFamily="18" charset="0"/>
                <a:cs typeface="Times New Roman" pitchFamily="18" charset="0"/>
              </a:rPr>
              <a:t>Narasaraopeta</a:t>
            </a:r>
            <a:r>
              <a:rPr lang="en-US" alt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itchFamily="18" charset="0"/>
                <a:cs typeface="Times New Roman" pitchFamily="18" charset="0"/>
              </a:rPr>
              <a:t> Engineering College (Autonomous),</a:t>
            </a:r>
          </a:p>
          <a:p>
            <a:pPr algn="ctr" eaLnBrk="1" hangingPunct="1">
              <a:lnSpc>
                <a:spcPct val="150000"/>
              </a:lnSpc>
              <a:spcBef>
                <a:spcPct val="20000"/>
              </a:spcBef>
              <a:buFont typeface="Wingdings" pitchFamily="2" charset="2"/>
              <a:buNone/>
            </a:pPr>
            <a:r>
              <a:rPr lang="en-US" alt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itchFamily="18" charset="0"/>
                <a:cs typeface="Times New Roman" pitchFamily="18" charset="0"/>
              </a:rPr>
              <a:t>Narasaraopet- 522 601.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674"/>
            <a:ext cx="3762900" cy="579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34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73486"/>
            <a:ext cx="10173182" cy="810555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158" y="1274193"/>
            <a:ext cx="10534917" cy="5082157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Diagram / Flow Diagram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Analysis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Scope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Acknowledgements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 and Answers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6752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763879"/>
          </a:xfrm>
        </p:spPr>
        <p:txBody>
          <a:bodyPr>
            <a:normAutofit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FF6D0F4-0F98-9A28-3386-CCCD30F7AD43}"/>
              </a:ext>
            </a:extLst>
          </p:cNvPr>
          <p:cNvSpPr txBox="1"/>
          <p:nvPr/>
        </p:nvSpPr>
        <p:spPr>
          <a:xfrm>
            <a:off x="933061" y="1010245"/>
            <a:ext cx="1042073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endParaRPr lang="en-IN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Classifying microplastics with deep learning methods on integrated holographic images is more successful. By representing the microcosm along with its hologram phase and amplitude as an HSL </a:t>
            </a:r>
            <a:r>
              <a:rPr lang="en-IN" sz="240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space, microplastic samples become rich in both spatial and </a:t>
            </a:r>
            <a:r>
              <a:rPr lang="en-IN" sz="240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information. The Swin Transformer V2 which is famously known for its hierarchical utilization of self-attention and its success on minute and complex images, is chosen to perform exact classification. Results show the accuracy and F1-Score of 91.65% and 91.79%, respectively, thus reflecting a high level of true positive identification and good false positive avoidance. This study highlights the potential of vision transformers for environmental monitoring tasks and provides a framework for the automated microplastics detection via digital holography.</a:t>
            </a:r>
          </a:p>
        </p:txBody>
      </p:sp>
    </p:spTree>
    <p:extLst>
      <p:ext uri="{BB962C8B-B14F-4D97-AF65-F5344CB8AC3E}">
        <p14:creationId xmlns:p14="http://schemas.microsoft.com/office/powerpoint/2010/main" val="1369108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630" y="1342664"/>
            <a:ext cx="10636170" cy="4907666"/>
          </a:xfrm>
        </p:spPr>
        <p:txBody>
          <a:bodyPr>
            <a:noAutofit/>
          </a:bodyPr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b="1" smtClean="0"/>
              <a:t>BRIEF OVERVIEW</a:t>
            </a:r>
            <a:endParaRPr lang="en-US" sz="2000" b="1"/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Microplastics are tiny plastic fragments (&lt;5 mm) generated from the degradation of larger plastic waste and industrial products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These particles persist in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oceans, rivers, and drinking water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posing serious risks to aquatic life and human health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Manual detection methods are slow, labor-intensive, and inefficient for large-scale analysis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Hence, automated deep learning techniques are required for accurate and efficient microplastic detection.</a:t>
            </a:r>
            <a:endParaRPr lang="en-US" sz="2000" b="1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754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630" y="1342664"/>
            <a:ext cx="10636170" cy="4907666"/>
          </a:xfrm>
        </p:spPr>
        <p:txBody>
          <a:bodyPr>
            <a:noAutofit/>
          </a:bodyPr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  <a:endParaRPr lang="en-US" sz="200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Conventional CNN models struggle to capture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global contextual information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present in holographic microplastic images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Swin Transformer V2 can capture both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local and global features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effectively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Hierarchical attention improves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feature learning and classification accuracy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This motivation supports the need for a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scalable and high-performance framework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suitable for real-time environmental monitoring.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197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630" y="1342664"/>
            <a:ext cx="10636170" cy="4907666"/>
          </a:xfrm>
        </p:spPr>
        <p:txBody>
          <a:bodyPr>
            <a:noAutofit/>
          </a:bodyPr>
          <a:lstStyle/>
          <a:p>
            <a:pPr>
              <a:lnSpc>
                <a:spcPct val="130000"/>
              </a:lnSpc>
              <a:buFont typeface="Wingdings" panose="05000000000000000000" pitchFamily="2" charset="2"/>
              <a:buChar char="Ø"/>
            </a:pPr>
            <a:endParaRPr lang="en-US" sz="2000" b="1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RELEVANCE</a:t>
            </a:r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HSL color space preserves both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structural and texture information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from holographic images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Fusion of amplitude and phase images improves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feature visibility and contrast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Enhanced representation leads to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more accurate and reliable classification results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approach is suitable for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real-time and large-scale environmental monitoring systems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092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665174"/>
            <a:ext cx="10173182" cy="56215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xmlns="" id="{3E8CACDC-CE1B-448A-5D5F-BF4D715F95AE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xmlns="" id="{D5492C34-DF62-E3B9-3F6C-997B49ACC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875429"/>
              </p:ext>
            </p:extLst>
          </p:nvPr>
        </p:nvGraphicFramePr>
        <p:xfrm>
          <a:off x="762000" y="1646238"/>
          <a:ext cx="10667999" cy="4219578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599515">
                  <a:extLst>
                    <a:ext uri="{9D8B030D-6E8A-4147-A177-3AD203B41FA5}">
                      <a16:colId xmlns:a16="http://schemas.microsoft.com/office/drawing/2014/main" xmlns="" val="166576671"/>
                    </a:ext>
                  </a:extLst>
                </a:gridCol>
                <a:gridCol w="1916206">
                  <a:extLst>
                    <a:ext uri="{9D8B030D-6E8A-4147-A177-3AD203B41FA5}">
                      <a16:colId xmlns:a16="http://schemas.microsoft.com/office/drawing/2014/main" xmlns="" val="946789180"/>
                    </a:ext>
                  </a:extLst>
                </a:gridCol>
                <a:gridCol w="1596838">
                  <a:extLst>
                    <a:ext uri="{9D8B030D-6E8A-4147-A177-3AD203B41FA5}">
                      <a16:colId xmlns:a16="http://schemas.microsoft.com/office/drawing/2014/main" xmlns="" val="3483638722"/>
                    </a:ext>
                  </a:extLst>
                </a:gridCol>
                <a:gridCol w="1498249">
                  <a:extLst>
                    <a:ext uri="{9D8B030D-6E8A-4147-A177-3AD203B41FA5}">
                      <a16:colId xmlns:a16="http://schemas.microsoft.com/office/drawing/2014/main" xmlns="" val="1190061112"/>
                    </a:ext>
                  </a:extLst>
                </a:gridCol>
                <a:gridCol w="1978090">
                  <a:extLst>
                    <a:ext uri="{9D8B030D-6E8A-4147-A177-3AD203B41FA5}">
                      <a16:colId xmlns:a16="http://schemas.microsoft.com/office/drawing/2014/main" xmlns="" val="3469305604"/>
                    </a:ext>
                  </a:extLst>
                </a:gridCol>
                <a:gridCol w="1586204">
                  <a:extLst>
                    <a:ext uri="{9D8B030D-6E8A-4147-A177-3AD203B41FA5}">
                      <a16:colId xmlns:a16="http://schemas.microsoft.com/office/drawing/2014/main" xmlns="" val="3853106642"/>
                    </a:ext>
                  </a:extLst>
                </a:gridCol>
                <a:gridCol w="1492897">
                  <a:extLst>
                    <a:ext uri="{9D8B030D-6E8A-4147-A177-3AD203B41FA5}">
                      <a16:colId xmlns:a16="http://schemas.microsoft.com/office/drawing/2014/main" xmlns="" val="1601472594"/>
                    </a:ext>
                  </a:extLst>
                </a:gridCol>
              </a:tblGrid>
              <a:tr h="459729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Title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Author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Journal</a:t>
                      </a:r>
                      <a:r>
                        <a:rPr lang="en-US" sz="1400" baseline="0">
                          <a:solidFill>
                            <a:schemeClr val="tx1"/>
                          </a:solidFill>
                        </a:rPr>
                        <a:t> Name &amp; Year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Methodology Adapted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Key Findings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Gaps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537051210"/>
                  </a:ext>
                </a:extLst>
              </a:tr>
              <a:tr h="17752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HMPD: A Novel </a:t>
                      </a:r>
                      <a:r>
                        <a:rPr lang="en-US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Datasaet</a:t>
                      </a: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for Microplastics Classification with Digital Holography</a:t>
                      </a:r>
                      <a:endParaRPr lang="en-US" sz="1400" b="0" i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Teresa Cacace, Marco Del-Coco, Pierluigi Carcagnì, Mariacristina Cocca, Melania Paturzo, and Cosimo Distante (2023), Springer Nature Switzerland AG</a:t>
                      </a:r>
                      <a:endParaRPr lang="en-US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Springer, 2023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Holographic post-processing and object detection on amplitude and phase images using Gaussian Mixture Model (GMM).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Introduced first large holographic dataset (HMPD) for microplastic classification; provided benchmark for DL models.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limited to classification only; lacks segmentation and real-world validation.</a:t>
                      </a:r>
                      <a:endParaRPr lang="en-US" sz="1400" b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2925414"/>
                  </a:ext>
                </a:extLst>
              </a:tr>
              <a:tr h="1476378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Deep Classification of Microplastics Through Image Fusion Techniques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P. Russo,</a:t>
                      </a:r>
                    </a:p>
                    <a:p>
                      <a:pPr algn="ctr"/>
                      <a:r>
                        <a:rPr lang="it-IT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C. D. Ciaccio</a:t>
                      </a:r>
                      <a:endParaRPr lang="en-US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Marine Pollution Bulletin, 2024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Combined amplitude and phase holographic images using HSL color space for richer spatial and spectral features.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Achieved 96.4% recall and 93.2% precision with CNNs like </a:t>
                      </a:r>
                      <a:r>
                        <a:rPr lang="en-US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ViT</a:t>
                      </a: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and ResNet18.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hierarchical or transformer-based attention; limited generalization to natural data.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88357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1723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981" y="747551"/>
            <a:ext cx="10173182" cy="56215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xmlns="" id="{3E8CACDC-CE1B-448A-5D5F-BF4D715F95AE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xmlns="" id="{D5492C34-DF62-E3B9-3F6C-997B49ACC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292891"/>
              </p:ext>
            </p:extLst>
          </p:nvPr>
        </p:nvGraphicFramePr>
        <p:xfrm>
          <a:off x="838200" y="1806734"/>
          <a:ext cx="10817505" cy="4473069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449424">
                  <a:extLst>
                    <a:ext uri="{9D8B030D-6E8A-4147-A177-3AD203B41FA5}">
                      <a16:colId xmlns:a16="http://schemas.microsoft.com/office/drawing/2014/main" xmlns="" val="166576671"/>
                    </a:ext>
                  </a:extLst>
                </a:gridCol>
                <a:gridCol w="2101553">
                  <a:extLst>
                    <a:ext uri="{9D8B030D-6E8A-4147-A177-3AD203B41FA5}">
                      <a16:colId xmlns:a16="http://schemas.microsoft.com/office/drawing/2014/main" xmlns="" val="946789180"/>
                    </a:ext>
                  </a:extLst>
                </a:gridCol>
                <a:gridCol w="1619217">
                  <a:extLst>
                    <a:ext uri="{9D8B030D-6E8A-4147-A177-3AD203B41FA5}">
                      <a16:colId xmlns:a16="http://schemas.microsoft.com/office/drawing/2014/main" xmlns="" val="3483638722"/>
                    </a:ext>
                  </a:extLst>
                </a:gridCol>
                <a:gridCol w="1670352">
                  <a:extLst>
                    <a:ext uri="{9D8B030D-6E8A-4147-A177-3AD203B41FA5}">
                      <a16:colId xmlns:a16="http://schemas.microsoft.com/office/drawing/2014/main" xmlns="" val="1190061112"/>
                    </a:ext>
                  </a:extLst>
                </a:gridCol>
                <a:gridCol w="1724860">
                  <a:extLst>
                    <a:ext uri="{9D8B030D-6E8A-4147-A177-3AD203B41FA5}">
                      <a16:colId xmlns:a16="http://schemas.microsoft.com/office/drawing/2014/main" xmlns="" val="3469305604"/>
                    </a:ext>
                  </a:extLst>
                </a:gridCol>
                <a:gridCol w="1692853">
                  <a:extLst>
                    <a:ext uri="{9D8B030D-6E8A-4147-A177-3AD203B41FA5}">
                      <a16:colId xmlns:a16="http://schemas.microsoft.com/office/drawing/2014/main" xmlns="" val="3853106642"/>
                    </a:ext>
                  </a:extLst>
                </a:gridCol>
                <a:gridCol w="1559246">
                  <a:extLst>
                    <a:ext uri="{9D8B030D-6E8A-4147-A177-3AD203B41FA5}">
                      <a16:colId xmlns:a16="http://schemas.microsoft.com/office/drawing/2014/main" xmlns="" val="1601472594"/>
                    </a:ext>
                  </a:extLst>
                </a:gridCol>
              </a:tblGrid>
              <a:tr h="544840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Title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Author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Journal Name &amp; Year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Methodology Adapted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Key Findings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Gaps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537051210"/>
                  </a:ext>
                </a:extLst>
              </a:tr>
              <a:tr h="1290410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Microplastic Segmentation and Detection Using Deep Learning with Annotated Image Dataset</a:t>
                      </a:r>
                      <a:endParaRPr lang="en-US" sz="1400" b="0" i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Z. Lee,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S. Lee, H. Kim</a:t>
                      </a:r>
                      <a:endParaRPr lang="en-US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Access,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2024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Developed annotated segmentation dataset; applied U-Net and EfficientNetV2.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Achieved 89.2% F1-score and 63.14% </a:t>
                      </a:r>
                      <a:r>
                        <a:rPr lang="en-US" sz="140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mIoU</a:t>
                      </a: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improved segmentation accuracy.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Struggled with detecting very small particles; high sensitivity to background noise.</a:t>
                      </a:r>
                      <a:endParaRPr lang="en-US" sz="1400" b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2925414"/>
                  </a:ext>
                </a:extLst>
              </a:tr>
              <a:tr h="1089680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Microplastic Identification Using AI-Driven Image Segmentation and GAN-Generated Ecological Context</a:t>
                      </a:r>
                      <a:endParaRPr lang="en-IN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C. Dils, M. Metz, G. Montavon</a:t>
                      </a:r>
                      <a:endParaRPr lang="en-US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Sensors, 2024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Used GANs </a:t>
                      </a: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 synthetic data augmentation.</a:t>
                      </a:r>
                      <a:endParaRPr lang="en-US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Improved F1-score from 0.82 to 0.91 by generating realistic microplastic samples.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Synthetic images may not fully represent real-world holographic noise.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88357853"/>
                  </a:ext>
                </a:extLst>
              </a:tr>
              <a:tr h="1445299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FTIR-Based Microplastic Classification: A Comprehensive Study on Normalization and ML Techniques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H. Zhu, X. Wang, L. Feng</a:t>
                      </a:r>
                      <a:endParaRPr lang="en-US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Access, 2024</a:t>
                      </a:r>
                      <a:endParaRPr lang="en-US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Used transfer learning and input compression to optimize model features.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Enhanced accuracy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and reduced channel redundancy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Focused on RGB images; lacks phase-amplitude holographic fusion.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543099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8408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409" y="866923"/>
            <a:ext cx="10173182" cy="56215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xmlns="" id="{3E8CACDC-CE1B-448A-5D5F-BF4D715F95AE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xmlns="" id="{D5492C34-DF62-E3B9-3F6C-997B49ACC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792924"/>
              </p:ext>
            </p:extLst>
          </p:nvPr>
        </p:nvGraphicFramePr>
        <p:xfrm>
          <a:off x="685264" y="1951038"/>
          <a:ext cx="11126272" cy="3962400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482114">
                  <a:extLst>
                    <a:ext uri="{9D8B030D-6E8A-4147-A177-3AD203B41FA5}">
                      <a16:colId xmlns:a16="http://schemas.microsoft.com/office/drawing/2014/main" xmlns="" val="166576671"/>
                    </a:ext>
                  </a:extLst>
                </a:gridCol>
                <a:gridCol w="1860768">
                  <a:extLst>
                    <a:ext uri="{9D8B030D-6E8A-4147-A177-3AD203B41FA5}">
                      <a16:colId xmlns:a16="http://schemas.microsoft.com/office/drawing/2014/main" xmlns="" val="946789180"/>
                    </a:ext>
                  </a:extLst>
                </a:gridCol>
                <a:gridCol w="1803042">
                  <a:extLst>
                    <a:ext uri="{9D8B030D-6E8A-4147-A177-3AD203B41FA5}">
                      <a16:colId xmlns:a16="http://schemas.microsoft.com/office/drawing/2014/main" xmlns="" val="3483638722"/>
                    </a:ext>
                  </a:extLst>
                </a:gridCol>
                <a:gridCol w="1545465">
                  <a:extLst>
                    <a:ext uri="{9D8B030D-6E8A-4147-A177-3AD203B41FA5}">
                      <a16:colId xmlns:a16="http://schemas.microsoft.com/office/drawing/2014/main" xmlns="" val="1190061112"/>
                    </a:ext>
                  </a:extLst>
                </a:gridCol>
                <a:gridCol w="1983346">
                  <a:extLst>
                    <a:ext uri="{9D8B030D-6E8A-4147-A177-3AD203B41FA5}">
                      <a16:colId xmlns:a16="http://schemas.microsoft.com/office/drawing/2014/main" xmlns="" val="3469305604"/>
                    </a:ext>
                  </a:extLst>
                </a:gridCol>
                <a:gridCol w="1622738">
                  <a:extLst>
                    <a:ext uri="{9D8B030D-6E8A-4147-A177-3AD203B41FA5}">
                      <a16:colId xmlns:a16="http://schemas.microsoft.com/office/drawing/2014/main" xmlns="" val="3853106642"/>
                    </a:ext>
                  </a:extLst>
                </a:gridCol>
                <a:gridCol w="1828799">
                  <a:extLst>
                    <a:ext uri="{9D8B030D-6E8A-4147-A177-3AD203B41FA5}">
                      <a16:colId xmlns:a16="http://schemas.microsoft.com/office/drawing/2014/main" xmlns="" val="1601472594"/>
                    </a:ext>
                  </a:extLst>
                </a:gridCol>
              </a:tblGrid>
              <a:tr h="571868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Title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Author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Journal Name &amp; Year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Methodology Adapted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Key Findings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Gaps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537051210"/>
                  </a:ext>
                </a:extLst>
              </a:tr>
              <a:tr h="1458042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Handy Open-Source Application Based on Computer Vision and Machine Learning Algorithms to Count and Classify Microplastics</a:t>
                      </a:r>
                      <a:endParaRPr lang="en-US" sz="1400" b="0" i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Issaiy</a:t>
                      </a: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Zarei, </a:t>
                      </a:r>
                      <a:r>
                        <a:rPr lang="en-IN" sz="140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Kolahi</a:t>
                      </a: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&amp; Liebeskind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Access, 2024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Review of ML/DL preprocessing and models (SMOTE, normalization, DL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Ensemble &amp; DL methods outperform traditional scoring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Lack of transparency and reproducibility in reviewed studies</a:t>
                      </a:r>
                      <a:endParaRPr lang="en-US" sz="1400" b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2925414"/>
                  </a:ext>
                </a:extLst>
              </a:tr>
              <a:tr h="904809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Morphological Detection and Classification of Microplastics and</a:t>
                      </a:r>
                    </a:p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Nanoplastics</a:t>
                      </a: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Emerged from Consumer Products by Deep Learning</a:t>
                      </a:r>
                      <a:endParaRPr lang="en-US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Saeed Mohsen &amp; Ahmed Gomaa</a:t>
                      </a:r>
                      <a:endParaRPr lang="en-US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Multimedia Tools &amp; Applications (Springer), 2025</a:t>
                      </a:r>
                      <a:endParaRPr lang="en-US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BiLSTM</a:t>
                      </a: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model with data cleaning &amp; imbalance handling</a:t>
                      </a:r>
                      <a:endParaRPr lang="en-US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100% testing accuracy, precision, recall, and F1-score</a:t>
                      </a:r>
                      <a:endParaRPr lang="en-US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Small dataset (n=4,981); possible overfitting</a:t>
                      </a:r>
                      <a:endParaRPr lang="en-IN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88357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327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381884"/>
            <a:ext cx="10173182" cy="1128009"/>
          </a:xfrm>
        </p:spPr>
        <p:txBody>
          <a:bodyPr>
            <a:normAutofit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xmlns="" id="{8536F849-D52C-68D8-E80B-B72417F20F4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71018" y="1845018"/>
            <a:ext cx="10439103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IN" sz="2000">
                <a:latin typeface="Times New Roman" panose="02020603050405020304" pitchFamily="18" charset="0"/>
                <a:cs typeface="Times New Roman" panose="02020603050405020304" pitchFamily="18" charset="0"/>
              </a:rPr>
              <a:t>Limited real-world microplastic datasets.</a:t>
            </a: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I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CNNs fail to capture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global context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and fine holographic textures.</a:t>
            </a: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Absence of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fusion-based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approaches combining amplitude and phase data.</a:t>
            </a: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Lack of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real-time, scalable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classification frameworks.</a:t>
            </a: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Need for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environment-ready transformer architectures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with better precision and recall</a:t>
            </a:r>
            <a:endParaRPr kumimoji="0" lang="en-US" alt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xmlns="" id="{14C75DE7-4F40-3E0D-89EF-47B294E333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4506686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" name="AutoShape 5">
            <a:extLst>
              <a:ext uri="{FF2B5EF4-FFF2-40B4-BE49-F238E27FC236}">
                <a16:creationId xmlns:a16="http://schemas.microsoft.com/office/drawing/2014/main" xmlns="" id="{EAB03709-E792-7B0C-1BAE-A846EDE2690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3168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50" y="1426974"/>
            <a:ext cx="9523445" cy="4351338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endParaRPr lang="en-US" sz="2000" b="1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DEFINITION: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b="1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Holographic microplastic images exhibit complex patterns that are difficult to classify accurately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Conventional CNN-based methods fail to capture both local and global features effectively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Separate processing of amplitude and phase images causes loss of critical information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Hence, an automated deep learning framework with fused amplitude–phase data is required for accurate classification.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738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50" y="1426974"/>
            <a:ext cx="9523445" cy="4351338"/>
          </a:xfrm>
        </p:spPr>
        <p:txBody>
          <a:bodyPr>
            <a:noAutofit/>
          </a:bodyPr>
          <a:lstStyle/>
          <a:p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SIGNIFICANCE OF THE PROBLEM: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Enables automated and efficient monitoring of microplastics in aquatic environments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Reduces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reliance on time-consuming and error-prone manual inspection methods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Supports real-time detection and tracking of environmental plastic pollution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Ensures high accuracy and robustness in microplastic classification results.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3621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230410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xmlns="" id="{69DBB056-A953-2816-3FA2-F26FDCA895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74794"/>
            <a:ext cx="9918440" cy="4093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an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automated Swin Transformer V2-based model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for microplastic classification.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None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fuse amplitude and phase images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HSL color space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for rich feature extraction.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None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Font typeface="Wingdings" panose="05000000000000000000" pitchFamily="2" charset="2"/>
              <a:buChar char="Ø"/>
            </a:pPr>
            <a:r>
              <a:rPr lang="en-IN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IN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enhance model generalization</a:t>
            </a:r>
            <a:r>
              <a:rPr lang="en-IN" sz="2000">
                <a:latin typeface="Times New Roman" panose="02020603050405020304" pitchFamily="18" charset="0"/>
                <a:cs typeface="Times New Roman" panose="02020603050405020304" pitchFamily="18" charset="0"/>
              </a:rPr>
              <a:t> via data augmentation and balanced datasets.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None/>
            </a:pPr>
            <a:endParaRPr lang="en-I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evaluate performance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using metrics like accuracy, precision, recall, F1, and ROC-AUC.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None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compare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Swin Transformer V2 with CNN-based models (</a:t>
            </a:r>
            <a:r>
              <a:rPr lang="en-US" sz="2000" err="1">
                <a:latin typeface="Times New Roman" panose="02020603050405020304" pitchFamily="18" charset="0"/>
                <a:cs typeface="Times New Roman" panose="02020603050405020304" pitchFamily="18" charset="0"/>
              </a:rPr>
              <a:t>AlexNet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ResNet18, VGG11).</a:t>
            </a:r>
            <a:endParaRPr kumimoji="0" lang="en-US" alt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1237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1494" y="756356"/>
            <a:ext cx="7489282" cy="1007130"/>
          </a:xfrm>
        </p:spPr>
        <p:txBody>
          <a:bodyPr>
            <a:norm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BLOCK DIAGRAM OR FLOW DIAGRAM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34D3D977-114D-AEB5-3DCA-27AF33273A02}"/>
              </a:ext>
            </a:extLst>
          </p:cNvPr>
          <p:cNvSpPr txBox="1"/>
          <p:nvPr/>
        </p:nvSpPr>
        <p:spPr>
          <a:xfrm>
            <a:off x="1155032" y="2037347"/>
            <a:ext cx="10026315" cy="4064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474A25F4-F8D8-8B62-FFFD-E88A57FA26A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38200" y="2258008"/>
            <a:ext cx="10591800" cy="2976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29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1494" y="756356"/>
            <a:ext cx="7489282" cy="1007130"/>
          </a:xfrm>
        </p:spPr>
        <p:txBody>
          <a:bodyPr>
            <a:norm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BLOCK DIAGRAM OR FLOW DIAGRAM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28800" y="1902691"/>
            <a:ext cx="909781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/>
              <a:t>Holographic microscope captures </a:t>
            </a:r>
            <a:r>
              <a:rPr lang="en-US" sz="2000" b="1"/>
              <a:t>amplitude and phase images</a:t>
            </a:r>
            <a:r>
              <a:rPr lang="en-US" sz="2000"/>
              <a:t> of the sample</a:t>
            </a:r>
            <a:r>
              <a:rPr lang="en-US" sz="2000" smtClean="0"/>
              <a:t>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smtClean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/>
              <a:t>Amplitude and phase images are combined using </a:t>
            </a:r>
            <a:r>
              <a:rPr lang="en-US" sz="2000" b="1"/>
              <a:t>HSL color fusion</a:t>
            </a:r>
            <a:r>
              <a:rPr lang="en-US" sz="2000" smtClean="0"/>
              <a:t>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smtClean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/>
              <a:t>The fused image is converted into an </a:t>
            </a:r>
            <a:r>
              <a:rPr lang="en-US" sz="2000" b="1"/>
              <a:t>RGB format</a:t>
            </a:r>
            <a:r>
              <a:rPr lang="en-US" sz="2000" smtClean="0"/>
              <a:t>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smtClean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/>
              <a:t>RGB images are fed into the </a:t>
            </a:r>
            <a:r>
              <a:rPr lang="en-US" sz="2000" b="1"/>
              <a:t>Swin Transformer V2 model</a:t>
            </a:r>
            <a:r>
              <a:rPr lang="en-US" sz="2000" smtClean="0"/>
              <a:t>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smtClean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/>
              <a:t>The model classifies the sample as </a:t>
            </a:r>
            <a:r>
              <a:rPr lang="en-US" sz="2000" b="1"/>
              <a:t>Microplastic or Non-Microplastic</a:t>
            </a:r>
            <a:r>
              <a:rPr lang="en-US" sz="20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2968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1AB23640-4FCB-841B-C599-F035B2151B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465" y="1147665"/>
            <a:ext cx="10663335" cy="502929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Collection:</a:t>
            </a: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Used the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Holographic Microplastic Dataset (HMPD)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containing paired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amplitude and phase images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labeled as microplastic or non-microplastic.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Image Fusion (HSL Conversion):</a:t>
            </a: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Converted amplitude and phase images to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HSL color space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for enhanced color and texture representation.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Mapping: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H = Amplitude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 = Phase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L = 0.5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(constant brightness).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</a:p>
          <a:p>
            <a:endParaRPr lang="en-US" sz="2400"/>
          </a:p>
          <a:p>
            <a:endParaRPr lang="en-IN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xmlns="" id="{1E018CD0-E903-F230-ACC3-17F5F98A39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049180"/>
              </p:ext>
            </p:extLst>
          </p:nvPr>
        </p:nvGraphicFramePr>
        <p:xfrm>
          <a:off x="2713652" y="4073963"/>
          <a:ext cx="7268548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634274">
                  <a:extLst>
                    <a:ext uri="{9D8B030D-6E8A-4147-A177-3AD203B41FA5}">
                      <a16:colId xmlns:a16="http://schemas.microsoft.com/office/drawing/2014/main" xmlns="" val="1472759434"/>
                    </a:ext>
                  </a:extLst>
                </a:gridCol>
                <a:gridCol w="3634274">
                  <a:extLst>
                    <a:ext uri="{9D8B030D-6E8A-4147-A177-3AD203B41FA5}">
                      <a16:colId xmlns:a16="http://schemas.microsoft.com/office/drawing/2014/main" xmlns="" val="688113809"/>
                    </a:ext>
                  </a:extLst>
                </a:gridCol>
              </a:tblGrid>
              <a:tr h="362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Process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057995520"/>
                  </a:ext>
                </a:extLst>
              </a:tr>
              <a:tr h="362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Resize (256×256)</a:t>
                      </a:r>
                    </a:p>
                  </a:txBody>
                  <a:tcPr anchor="ctr"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Standardizes image size</a:t>
                      </a:r>
                    </a:p>
                  </a:txBody>
                  <a:tcPr anchor="ctr"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xmlns="" val="4060854197"/>
                  </a:ext>
                </a:extLst>
              </a:tr>
              <a:tr h="362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Flip &amp; Rotation</a:t>
                      </a:r>
                    </a:p>
                  </a:txBody>
                  <a:tcPr anchor="ctr"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Increases data diversity</a:t>
                      </a:r>
                    </a:p>
                  </a:txBody>
                  <a:tcPr anchor="ctr"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xmlns="" val="1023617067"/>
                  </a:ext>
                </a:extLst>
              </a:tr>
              <a:tr h="362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err="1"/>
                        <a:t>Color</a:t>
                      </a:r>
                      <a:r>
                        <a:rPr lang="en-IN"/>
                        <a:t> Jittering</a:t>
                      </a:r>
                    </a:p>
                  </a:txBody>
                  <a:tcPr anchor="ctr"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Simulates lighting variation</a:t>
                      </a:r>
                    </a:p>
                  </a:txBody>
                  <a:tcPr anchor="ctr"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xmlns="" val="3212678086"/>
                  </a:ext>
                </a:extLst>
              </a:tr>
              <a:tr h="362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Tensor Conversion</a:t>
                      </a:r>
                    </a:p>
                  </a:txBody>
                  <a:tcPr anchor="ctr"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Converts images to model format</a:t>
                      </a:r>
                    </a:p>
                  </a:txBody>
                  <a:tcPr anchor="ctr"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xmlns="" val="38624883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8576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38C493-31EB-960D-3D79-C1DB3A7EA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984F7E22-18A3-36EB-65B3-D05F5BEF2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620109E7-483D-3F5F-9DE8-17EE3DE48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C7615D7-44BA-BE01-F9F5-97EBCF9F6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B2567BC-B3C5-E58C-98C5-D1C696123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xmlns="" id="{689C531C-02F5-70B3-C47E-17A61036F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465" y="1147665"/>
            <a:ext cx="10663335" cy="5029298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Before </a:t>
            </a:r>
            <a:r>
              <a:rPr lang="en-US" dirty="0" err="1"/>
              <a:t>PreProcessing</a:t>
            </a:r>
            <a:r>
              <a:rPr lang="en-US" dirty="0"/>
              <a:t>                          After Preprocessing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8088B655-1DBE-35F4-7947-0286B514B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202" y="2863502"/>
            <a:ext cx="4229084" cy="30630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920D4CE5-AFD3-9267-89E7-76F9CAF982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986" y="2948474"/>
            <a:ext cx="3387320" cy="288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111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xmlns="" id="{E11839D7-C322-78C3-230F-3B6D4C28B0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0809" y="1490700"/>
            <a:ext cx="11158015" cy="2322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Training:</a:t>
            </a: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Swin Transformer V2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a vision transformer with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shifted window attention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for local and global feature learning.</a:t>
            </a:r>
          </a:p>
          <a:p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Model Architecture</a:t>
            </a:r>
          </a:p>
          <a:p>
            <a:pPr marL="0" indent="0">
              <a:buNone/>
            </a:pPr>
            <a:endParaRPr lang="en-IN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B37DFB0-2EB0-9E18-4671-DCB4693D458D}"/>
              </a:ext>
            </a:extLst>
          </p:cNvPr>
          <p:cNvSpPr txBox="1"/>
          <p:nvPr/>
        </p:nvSpPr>
        <p:spPr>
          <a:xfrm>
            <a:off x="1946672" y="472203"/>
            <a:ext cx="84662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	        METHODOLOGY</a:t>
            </a:r>
            <a:endParaRPr lang="en-IN" sz="3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25C19EFE-3D28-57CE-A68C-9BA2EB6CE92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156997" y="3620277"/>
            <a:ext cx="9806472" cy="273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595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8706"/>
          </a:xfrm>
        </p:spPr>
        <p:txBody>
          <a:bodyPr>
            <a:normAutofit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  <a:endParaRPr lang="en-I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19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D41BC027-4AE0-E92D-F159-E9E65D004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3567"/>
            <a:ext cx="10515600" cy="4693396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Image fusion and preprocessing (resize, flip, rotation, color jittering)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Conversion of amplitude and phase to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HSL color space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Splitting dataset into 80% training and 20% validation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 using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Swin Transformer V2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with cross-entropy loss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using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Accuracy, Precision, Recall, F1-score, and ROC Curve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training/validation accuracy and loss trends</a:t>
            </a:r>
          </a:p>
        </p:txBody>
      </p:sp>
    </p:spTree>
    <p:extLst>
      <p:ext uri="{BB962C8B-B14F-4D97-AF65-F5344CB8AC3E}">
        <p14:creationId xmlns:p14="http://schemas.microsoft.com/office/powerpoint/2010/main" val="3365864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47700"/>
            <a:ext cx="105156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  <a:endParaRPr lang="en-I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82700"/>
            <a:ext cx="10871200" cy="4894263"/>
          </a:xfrm>
        </p:spPr>
        <p:txBody>
          <a:bodyPr>
            <a:normAutofit/>
          </a:bodyPr>
          <a:lstStyle/>
          <a:p>
            <a:pPr>
              <a:buNone/>
              <a:tabLst>
                <a:tab pos="3860800" algn="l"/>
                <a:tab pos="5473700" algn="l"/>
              </a:tabLst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Requirements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1041400">
              <a:tabLst>
                <a:tab pos="3860800" algn="l"/>
                <a:tab pos="5473700" algn="l"/>
              </a:tabLst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Processor	:	intel Core i5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1790700">
              <a:tabLst>
                <a:tab pos="3860800" algn="l"/>
                <a:tab pos="5473700" algn="l"/>
              </a:tabLst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	:	4MB(Megabyte)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0">
              <a:tabLst>
                <a:tab pos="3860800" algn="l"/>
                <a:tab pos="5473700" algn="l"/>
              </a:tabLst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	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	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12.7GB (gigabyte)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0">
              <a:tabLst>
                <a:tab pos="3860800" algn="l"/>
                <a:tab pos="5473700" algn="l"/>
              </a:tabLst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Disk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	166.8GB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0">
              <a:tabLst>
                <a:tab pos="3860800" algn="l"/>
                <a:tab pos="5473700" algn="l"/>
              </a:tabLst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Engine      	:	 T4 GPU</a:t>
            </a:r>
          </a:p>
          <a:p>
            <a:pPr lvl="0">
              <a:buNone/>
              <a:tabLst>
                <a:tab pos="3860800" algn="l"/>
                <a:tab pos="5473700" algn="l"/>
              </a:tabLst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tabLst>
                <a:tab pos="3860800" algn="l"/>
                <a:tab pos="5473700" algn="l"/>
              </a:tabLst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	Windows 10, 64-bit Operating System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0">
              <a:tabLst>
                <a:tab pos="3860800" algn="l"/>
                <a:tab pos="5473700" algn="l"/>
              </a:tabLst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Coding Language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	Python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0">
              <a:tabLst>
                <a:tab pos="3860800" algn="l"/>
                <a:tab pos="5473700" algn="l"/>
              </a:tabLst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distribution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		Google Colab , Flask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0">
              <a:tabLst>
                <a:tab pos="3860800" algn="l"/>
                <a:tab pos="5473700" algn="l"/>
              </a:tabLst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Browser	: 	Any Latest Browser like Chrome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84970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38600" y="-59612"/>
            <a:ext cx="5133392" cy="787400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Challenges  Vs Overcomes</a:t>
            </a:r>
            <a:endParaRPr lang="en-IN" sz="32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3" name="Content Placeholder 1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7237640"/>
              </p:ext>
            </p:extLst>
          </p:nvPr>
        </p:nvGraphicFramePr>
        <p:xfrm>
          <a:off x="529389" y="727788"/>
          <a:ext cx="11283167" cy="5090981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562881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65435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4303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/>
                        <a:t>Challenges Faced</a:t>
                      </a:r>
                      <a:endParaRPr lang="en-IN" sz="2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/>
                        <a:t>Solutions Implemented</a:t>
                      </a:r>
                      <a:endParaRPr lang="en-IN" sz="2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694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Challenges Faced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How They Were Overcome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1736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Limited dataset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The HMPD dataset contained a restricted number of amplitude and phase image pairs, which could limit model generalization.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Applied </a:t>
                      </a: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augmentation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techniques (rotation, flipping, color jittering) to enlarge the dataset and improve model robustness.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743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Low contrast in holographic images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Raw amplitude and phase images lacked clarity, making microplastics difficult to distinguish.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Used </a:t>
                      </a: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HSL fusion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(H = Amplitude, S = Phase, L = 0.5) to enhance contrast, color, and texture representation.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743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High computational complexity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Vision transformers can be computationally heavy on large images.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Utilized the </a:t>
                      </a: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Swin Transformer V2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architecture with </a:t>
                      </a: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shifted-window attention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which reduces computation from quadratic to linear complexity.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688373"/>
                  </a:ext>
                </a:extLst>
              </a:tr>
              <a:tr h="743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Performance evaluation and explainability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Difficult to assess how effectively the model identified true microplastics.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Implemented comprehensive metrics (</a:t>
                      </a: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Accuracy, Precision, Recall, F1-Score, ROC</a:t>
                      </a: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and visualized results with confusion matrix and ROC curve.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66947631"/>
                  </a:ext>
                </a:extLst>
              </a:tr>
            </a:tbl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42491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Frontend</a:t>
            </a:r>
            <a:endParaRPr lang="en-IN" sz="4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22</a:t>
            </a:fld>
            <a:endParaRPr lang="en-IN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xmlns="" id="{68A1DDC1-3395-4ED8-C7EA-5CA0ECBF24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718" y="1825625"/>
            <a:ext cx="8684563" cy="4351338"/>
          </a:xfrm>
        </p:spPr>
      </p:pic>
    </p:spTree>
    <p:extLst>
      <p:ext uri="{BB962C8B-B14F-4D97-AF65-F5344CB8AC3E}">
        <p14:creationId xmlns:p14="http://schemas.microsoft.com/office/powerpoint/2010/main" val="937651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108B5B-8009-EBCC-5307-7EF620497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E127E7CF-A531-7104-9A22-CD6618215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334FF43-B1E7-2A42-B912-F6BB0BDC0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23</a:t>
            </a:fld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A3F85FC2-6F4A-930B-3B64-312DAB390CD3}"/>
              </a:ext>
            </a:extLst>
          </p:cNvPr>
          <p:cNvSpPr txBox="1"/>
          <p:nvPr/>
        </p:nvSpPr>
        <p:spPr>
          <a:xfrm>
            <a:off x="2872273" y="649188"/>
            <a:ext cx="7760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Frontend</a:t>
            </a:r>
            <a:endParaRPr lang="en-IN" sz="40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2E602E42-0D1D-C0A3-AE95-45438EB7D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80"/>
            <a:ext cx="3905416" cy="6009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95963EC-0481-158B-397A-2F3716A04A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265" y="1357074"/>
            <a:ext cx="10848061" cy="4651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061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108B5B-8009-EBCC-5307-7EF620497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E127E7CF-A531-7104-9A22-CD6618215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334FF43-B1E7-2A42-B912-F6BB0BDC0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24</a:t>
            </a:fld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A3F85FC2-6F4A-930B-3B64-312DAB390CD3}"/>
              </a:ext>
            </a:extLst>
          </p:cNvPr>
          <p:cNvSpPr txBox="1"/>
          <p:nvPr/>
        </p:nvSpPr>
        <p:spPr>
          <a:xfrm>
            <a:off x="2872273" y="649188"/>
            <a:ext cx="7760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Frontend</a:t>
            </a:r>
            <a:endParaRPr lang="en-IN" sz="40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2E602E42-0D1D-C0A3-AE95-45438EB7D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80"/>
            <a:ext cx="3905416" cy="6009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3E8CAD3F-9252-079F-4B78-DBEB57D04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873" y="1586204"/>
            <a:ext cx="11231418" cy="418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6588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BFAA0B73-6CA5-E775-F5C6-1BFF6189A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2A09B01B-71CE-0B80-2644-CB49A8E68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AE3A1CB-EF01-93C1-A86A-38F8BD63B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25</a:t>
            </a:fld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8CDCD86D-4A7E-74DD-5207-DFABDE68309A}"/>
              </a:ext>
            </a:extLst>
          </p:cNvPr>
          <p:cNvSpPr txBox="1"/>
          <p:nvPr/>
        </p:nvSpPr>
        <p:spPr>
          <a:xfrm>
            <a:off x="2691078" y="692375"/>
            <a:ext cx="68098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Frontend</a:t>
            </a:r>
            <a:endParaRPr lang="en-IN" sz="400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C293FE92-8B18-F71D-75BB-C2D407E11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80"/>
            <a:ext cx="3762900" cy="5790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77BEE3B8-83AA-E6BB-EDA8-E357463B9B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05" y="1416940"/>
            <a:ext cx="10353869" cy="4939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5739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C6E69651-936A-290A-1779-9373FACA1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7228ED4-FDED-DAA7-FD41-5D6B002B7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4C8A989-489E-4ED0-0172-DD62B5D2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68F7FB3-8A57-3F6D-5664-7A1CDACED8C1}"/>
              </a:ext>
            </a:extLst>
          </p:cNvPr>
          <p:cNvSpPr txBox="1"/>
          <p:nvPr/>
        </p:nvSpPr>
        <p:spPr>
          <a:xfrm>
            <a:off x="3048964" y="765685"/>
            <a:ext cx="76159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buNone/>
            </a:pPr>
            <a:r>
              <a:rPr lang="en-US" sz="4000" b="1" kern="120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Implementation of Frontend</a:t>
            </a:r>
            <a:endParaRPr lang="en-IN" sz="4000">
              <a:effectLst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7097839-7649-0E7F-C454-6C9F691B1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80"/>
            <a:ext cx="3762900" cy="5790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03A9A843-FA7C-F6D0-2078-3A671E53D6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620" y="1473571"/>
            <a:ext cx="9588759" cy="4816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863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3D4478-3721-6AB6-C054-82FDBF97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C6D1FA8B-8020-67A9-5C6D-A4AC12454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718714A-EE37-3068-FCD9-7A8F21EB8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3634496-C5F9-EE07-6168-21A113FC5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D2F82090-2460-6556-59FB-A3EA0EB96D5D}"/>
              </a:ext>
            </a:extLst>
          </p:cNvPr>
          <p:cNvSpPr txBox="1"/>
          <p:nvPr/>
        </p:nvSpPr>
        <p:spPr>
          <a:xfrm>
            <a:off x="2939544" y="732319"/>
            <a:ext cx="78093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buNone/>
            </a:pPr>
            <a:r>
              <a:rPr lang="en-US" sz="4000" b="1" kern="120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Implementation of Frontend</a:t>
            </a:r>
            <a:endParaRPr lang="en-IN" sz="4000">
              <a:effectLst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0721A86C-C33B-FE58-0D84-1436C5E68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80"/>
            <a:ext cx="3762900" cy="5790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FCB25FAD-277A-B606-8CC7-8728A63553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3135" y="1351510"/>
            <a:ext cx="9644743" cy="4860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0308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CDDA180-9E21-7926-7187-21D98461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3851F5C-9370-3969-9611-4F682ABCD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BD69766E-B85C-30A6-26A8-71200955E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416B27A-6D2C-FCFE-1194-85D70F972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62EA448-C78F-63C1-165F-3C96EA3DD251}"/>
              </a:ext>
            </a:extLst>
          </p:cNvPr>
          <p:cNvSpPr txBox="1"/>
          <p:nvPr/>
        </p:nvSpPr>
        <p:spPr>
          <a:xfrm>
            <a:off x="2939544" y="732319"/>
            <a:ext cx="78093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buNone/>
            </a:pPr>
            <a:r>
              <a:rPr lang="en-US" sz="4000" b="1" kern="120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Implementation of Frontend</a:t>
            </a:r>
            <a:endParaRPr lang="en-IN" sz="4000">
              <a:effectLst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47A19A37-4219-CFBB-43B2-E66C2AAE1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80"/>
            <a:ext cx="3762900" cy="5790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1D447C66-AD83-F5A1-CA53-5D67B8E915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658" y="1529717"/>
            <a:ext cx="10508177" cy="482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1115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CDDA180-9E21-7926-7187-21D98461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3851F5C-9370-3969-9611-4F682ABCD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BD69766E-B85C-30A6-26A8-71200955E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416B27A-6D2C-FCFE-1194-85D70F972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29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62EA448-C78F-63C1-165F-3C96EA3DD251}"/>
              </a:ext>
            </a:extLst>
          </p:cNvPr>
          <p:cNvSpPr txBox="1"/>
          <p:nvPr/>
        </p:nvSpPr>
        <p:spPr>
          <a:xfrm>
            <a:off x="2939544" y="732319"/>
            <a:ext cx="78093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buNone/>
            </a:pPr>
            <a:r>
              <a:rPr lang="en-US" sz="4000" b="1" kern="120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Implementation of Frontend</a:t>
            </a:r>
            <a:endParaRPr lang="en-IN" sz="4000">
              <a:effectLst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47A19A37-4219-CFBB-43B2-E66C2AAE1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80"/>
            <a:ext cx="3762900" cy="5790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0767D560-6E74-59B3-A5FB-3FE005BD83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7439" b="-1"/>
          <a:stretch>
            <a:fillRect/>
          </a:stretch>
        </p:blipFill>
        <p:spPr>
          <a:xfrm>
            <a:off x="618837" y="1529717"/>
            <a:ext cx="10917382" cy="4714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129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05118"/>
            <a:ext cx="10515600" cy="726142"/>
          </a:xfrm>
        </p:spPr>
        <p:txBody>
          <a:bodyPr/>
          <a:lstStyle/>
          <a:p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ANALYSIS</a:t>
            </a:r>
            <a:endParaRPr lang="en-IN" b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30</a:t>
            </a:fld>
            <a:endParaRPr lang="en-IN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xmlns="" id="{73A98140-ED7A-5BB4-A1E3-EBAEE1D156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555" y="1636281"/>
            <a:ext cx="6363478" cy="32249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C10CA5A-B273-675A-E8F3-5A584BF30BED}"/>
              </a:ext>
            </a:extLst>
          </p:cNvPr>
          <p:cNvSpPr txBox="1"/>
          <p:nvPr/>
        </p:nvSpPr>
        <p:spPr>
          <a:xfrm>
            <a:off x="1570653" y="4808581"/>
            <a:ext cx="905069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HSL fusion improves contrast and feature clarity.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Swin Transformer V2 achieves highest precision (94.6%) and stable accuracy (~91%).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/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072551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30306"/>
            <a:ext cx="10515600" cy="900953"/>
          </a:xfrm>
        </p:spPr>
        <p:txBody>
          <a:bodyPr/>
          <a:lstStyle/>
          <a:p>
            <a:pPr algn="ctr"/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ANALYSIS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31</a:t>
            </a:fld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470647" y="1781175"/>
            <a:ext cx="544224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IN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xmlns="" id="{19AF1F62-94A4-E47E-DF97-BF5912F0E21C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79114" y="1903445"/>
            <a:ext cx="5074686" cy="403271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8DDCD7AB-4E69-E7C8-2BC0-D8C848E2482D}"/>
              </a:ext>
            </a:extLst>
          </p:cNvPr>
          <p:cNvSpPr txBox="1"/>
          <p:nvPr/>
        </p:nvSpPr>
        <p:spPr>
          <a:xfrm>
            <a:off x="653761" y="1903445"/>
            <a:ext cx="544224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training and validation accuracies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of the Swin Transformer V2 model steadily increased, reaching around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91–93%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showing effective learning.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curves are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closely aligned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indicating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good generalization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no overfitting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during training.</a:t>
            </a:r>
            <a:endParaRPr lang="en-I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3721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30306"/>
            <a:ext cx="10515600" cy="900953"/>
          </a:xfrm>
        </p:spPr>
        <p:txBody>
          <a:bodyPr/>
          <a:lstStyle/>
          <a:p>
            <a:pPr algn="ctr"/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ANALYSIS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32</a:t>
            </a:fld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470647" y="1781175"/>
            <a:ext cx="498885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IN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xmlns="" id="{932F37A7-C375-B90C-F3F4-06B0AF922E2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64943" y="1959429"/>
            <a:ext cx="4988858" cy="364826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6D808B50-9771-2B23-B496-D574DBAE188B}"/>
              </a:ext>
            </a:extLst>
          </p:cNvPr>
          <p:cNvSpPr txBox="1"/>
          <p:nvPr/>
        </p:nvSpPr>
        <p:spPr>
          <a:xfrm>
            <a:off x="470647" y="2299047"/>
            <a:ext cx="576220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2000" b="0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 </a:t>
            </a:r>
            <a:r>
              <a:rPr lang="en-US" sz="2000" b="1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training and validation losses</a:t>
            </a:r>
            <a:r>
              <a:rPr lang="en-US" sz="2000" b="0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continuously decrease over 40 epochs, showing that the </a:t>
            </a:r>
            <a:r>
              <a:rPr lang="en-US" sz="2000" b="1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Swin Transformer V2</a:t>
            </a:r>
            <a:r>
              <a:rPr lang="en-US" sz="2000" b="0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model learns effectively with each iteration.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US" sz="2000" smtClean="0">
              <a:solidFill>
                <a:srgbClr val="0D0D0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2000" b="0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Both curves converge near </a:t>
            </a:r>
            <a:r>
              <a:rPr lang="en-US" sz="2000" b="1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r>
              <a:rPr lang="en-US" sz="2000" b="0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and the validation loss stays lower than the training loss — indicating </a:t>
            </a:r>
            <a:r>
              <a:rPr lang="en-US" sz="2000" b="1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good generalization</a:t>
            </a:r>
            <a:r>
              <a:rPr lang="en-US" sz="2000" b="0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and </a:t>
            </a:r>
            <a:r>
              <a:rPr lang="en-US" sz="2000" b="1" i="0" smtClean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overfitting</a:t>
            </a:r>
            <a:r>
              <a:rPr lang="en-US" sz="2000" b="0" i="0" smtClean="0">
                <a:solidFill>
                  <a:srgbClr val="0D0D0D"/>
                </a:solidFill>
                <a:effectLst/>
                <a:latin typeface="ui-sans-serif"/>
              </a:rPr>
              <a:t>.</a:t>
            </a:r>
            <a:endParaRPr lang="en-US" sz="2000" b="0" i="0">
              <a:solidFill>
                <a:srgbClr val="0D0D0D"/>
              </a:solidFill>
              <a:effectLst/>
              <a:latin typeface="ui-sans-serif"/>
            </a:endParaRPr>
          </a:p>
        </p:txBody>
      </p:sp>
    </p:spTree>
    <p:extLst>
      <p:ext uri="{BB962C8B-B14F-4D97-AF65-F5344CB8AC3E}">
        <p14:creationId xmlns:p14="http://schemas.microsoft.com/office/powerpoint/2010/main" val="1761017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30306"/>
            <a:ext cx="10515600" cy="900953"/>
          </a:xfrm>
        </p:spPr>
        <p:txBody>
          <a:bodyPr/>
          <a:lstStyle/>
          <a:p>
            <a:pPr algn="ctr"/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ANALYSIS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33</a:t>
            </a:fld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013" y="1744825"/>
            <a:ext cx="5740795" cy="4519449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ROC curve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shows the model’s ability to distinguish between microplastic and non-microplastic samples, with an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AUC value of 0.979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indicating excellent classification performance.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curve is close to the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top-left corner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meaning the model achieves a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high true positive rate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while maintaining a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low false positive rate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BA367F5A-2A85-24D0-DD44-0CA7E9CF1B2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820391" y="1744826"/>
            <a:ext cx="4450987" cy="4030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759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2FF8D7-6453-1D93-D07E-6C90B8F6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F27B72-0136-9172-90F2-691F2DB31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306"/>
            <a:ext cx="10515600" cy="900953"/>
          </a:xfrm>
        </p:spPr>
        <p:txBody>
          <a:bodyPr/>
          <a:lstStyle/>
          <a:p>
            <a:pPr algn="ctr"/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ANALYSIS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68017AC-97B6-4979-376B-5567FC735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40869FB-6069-F0BA-9DC0-17C98CC2C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6C7B1D7-5B17-24DD-6E04-995469F44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34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6855EC9-3D4F-D291-8C13-A2EA91533FD0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5597236" y="4223038"/>
            <a:ext cx="323273" cy="45719"/>
          </a:xfrm>
        </p:spPr>
        <p:txBody>
          <a:bodyPr>
            <a:normAutofit fontScale="25000" lnSpcReduction="20000"/>
          </a:bodyPr>
          <a:lstStyle/>
          <a:p>
            <a:pPr algn="just">
              <a:buFont typeface="Wingdings" panose="05000000000000000000" pitchFamily="2" charset="2"/>
              <a:buChar char="Ø"/>
            </a:pP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BC2A60CB-2642-F882-4CEF-01F2A69B28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1995" y="1238895"/>
            <a:ext cx="5810181" cy="488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9634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2FF8D7-6453-1D93-D07E-6C90B8F6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F27B72-0136-9172-90F2-691F2DB31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306"/>
            <a:ext cx="10515600" cy="900953"/>
          </a:xfrm>
        </p:spPr>
        <p:txBody>
          <a:bodyPr/>
          <a:lstStyle/>
          <a:p>
            <a:pPr algn="ctr"/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ANALYSIS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68017AC-97B6-4979-376B-5567FC735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40869FB-6069-F0BA-9DC0-17C98CC2C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6C7B1D7-5B17-24DD-6E04-995469F44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35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6855EC9-3D4F-D291-8C13-A2EA91533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013" y="1847461"/>
            <a:ext cx="10721787" cy="4416813"/>
          </a:xfrm>
        </p:spPr>
        <p:txBody>
          <a:bodyPr>
            <a:norm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Swin Transformer V2 model correctly classified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615 microplastic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593 non-microplastic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samples, demonstrating strong performance across both 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classes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n-US" sz="200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high number of correct predictions indicates the model’s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balanced learning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without bias toward any single class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n-US" sz="200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Only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75 false positives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35 false negatives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were observed, showing minimal classification errors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n-US" sz="200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These results confirm the model’s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high reliability, consistency, and robustness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in microplastic detection.</a:t>
            </a:r>
          </a:p>
        </p:txBody>
      </p:sp>
    </p:spTree>
    <p:extLst>
      <p:ext uri="{BB962C8B-B14F-4D97-AF65-F5344CB8AC3E}">
        <p14:creationId xmlns:p14="http://schemas.microsoft.com/office/powerpoint/2010/main" val="36723097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85003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SCOPE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05-12-2025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36</a:t>
            </a:fld>
            <a:endParaRPr lang="en-IN"/>
          </a:p>
        </p:txBody>
      </p:sp>
      <p:sp>
        <p:nvSpPr>
          <p:cNvPr id="7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590938" y="1625054"/>
            <a:ext cx="11010123" cy="32265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endParaRPr lang="en-IN" sz="2000" b="1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  <a:endParaRPr lang="en-IN" sz="200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IN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Swin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V2 successfully classifies holographic microplastics with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91.65% accuracy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/>
              <a:t>It outperforms traditional CNN-based models by approximately </a:t>
            </a:r>
            <a:r>
              <a:rPr lang="en-US" sz="2000" b="1"/>
              <a:t>6%</a:t>
            </a:r>
            <a:r>
              <a:rPr lang="en-US" sz="2000"/>
              <a:t>, highlighting the advantage of transformer-based architectures</a:t>
            </a:r>
            <a:r>
              <a:rPr lang="en-US" sz="2000" smtClean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/>
              <a:t>Fusion of amplitude and phase images in </a:t>
            </a:r>
            <a:r>
              <a:rPr lang="en-US" sz="2000" b="1"/>
              <a:t>HSL color space</a:t>
            </a:r>
            <a:r>
              <a:rPr lang="en-US" sz="2000"/>
              <a:t> improves spatial and color feature representation</a:t>
            </a:r>
            <a:r>
              <a:rPr lang="en-US" sz="2000" smtClean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/>
              <a:t>The results validate the </a:t>
            </a:r>
            <a:r>
              <a:rPr lang="en-US" sz="2000" b="1"/>
              <a:t>effectiveness and suitability of Vision Transformers</a:t>
            </a:r>
            <a:r>
              <a:rPr lang="en-US" sz="2000"/>
              <a:t> for automated and reliable environmental monitoring applications.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36552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85003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SCOPE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05-12-2025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37</a:t>
            </a:fld>
            <a:endParaRPr lang="en-IN"/>
          </a:p>
        </p:txBody>
      </p:sp>
      <p:sp>
        <p:nvSpPr>
          <p:cNvPr id="7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590938" y="2110566"/>
            <a:ext cx="11010123" cy="3077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endParaRPr lang="en-IN" sz="2000" b="1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SCOPE:</a:t>
            </a:r>
          </a:p>
          <a:p>
            <a:pPr marL="0" indent="0">
              <a:buNone/>
            </a:pPr>
            <a:endParaRPr lang="en-IN" sz="200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Expand the dataset to include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diverse real-world microplastic types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and varied water samples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Integrate the proposed model into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real-time field monitoring systems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for on-site analysis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Extend the framework to support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multi-class classification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of different microplastic categories</a:t>
            </a:r>
            <a:r>
              <a:rPr lang="en-US" sz="2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Optimize the model for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edge and IoT-based deployment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to enable low-latency and energy-efficient operation.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9458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2032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38</a:t>
            </a:fld>
            <a:endParaRPr lang="en-IN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xmlns="" id="{C4CE00FC-7C9E-C8BB-D924-6CFCB3F6DB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0629" y="1087158"/>
            <a:ext cx="12061371" cy="55399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Z. Liu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Swin Transformer V2: Scaling Up Capacity and Resolution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,”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Proceedings of the IEEE/CVF Conference on Computer Vision and Pattern Recognition (CVPR)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12009–12019, 2022.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Dosovitskiy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Image is Worth 16×16 Words: Transformers for Image Recognition at Scale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,”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Conference on Learning Representations (ICLR)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2021.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G. Russo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Microplastic Classification in Holographic Images Using Swin Transformer V2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,”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Sensors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24, no. 5, pp. 1–17, 2024.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H. Chen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Survey on Vision Transformers in Computer Vision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,”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Transactions on Neural Networks and Learning Systems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35, no. 2, pp. 1550–1571, 2023.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Li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for Microplastic Detection and Classification: Challenges and Perspectives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,”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Science &amp; Technology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57, no. 6, pp. 2561–2574, 2023.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P. Zhang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Mechanisms in Environmental Image Analysis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,”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Access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11, pp. 12045–12059, 2023.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              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4510123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ACKNOWLEDGEMENTS</a:t>
            </a:r>
            <a:endParaRPr lang="en-I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8565" y="1573306"/>
            <a:ext cx="11066929" cy="4783044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would like to express our sincere gratitude to the faculty and staff of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Narasaraopeta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Engineering College for their guidance and encouragement throughout the development of this project. Their insights and expertise have been invaluable.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also extend our thanks to the administration for providing the necessary resources and a platform to showcase our work. This opportunity has been instrumental in enhancing our learning and growth.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any questions or further discussions, feel free to reach out:-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No:BG9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Guide: Mabanu Sampath Kumar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 No’s: 22471A05C2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22471A05B0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22471A05C5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Thank You</a:t>
            </a:r>
          </a:p>
          <a:p>
            <a:pPr marL="0" indent="0">
              <a:buNone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06-12-2025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 No. 02        Batch No. BG9           Department of CSE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CBD69-296B-4D7C-AF62-9B588FC78772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05998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06-12-2025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No. 02        Batch No. BG9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AE40E4EB-4ECD-17B6-333E-19F5E4D33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890" y="1447523"/>
            <a:ext cx="6230219" cy="39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913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4049</TotalTime>
  <Words>2710</Words>
  <Application>Microsoft Office PowerPoint</Application>
  <PresentationFormat>Widescreen</PresentationFormat>
  <Paragraphs>435</Paragraphs>
  <Slides>40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Calibri</vt:lpstr>
      <vt:lpstr>Calibri Light</vt:lpstr>
      <vt:lpstr>Times New Roman</vt:lpstr>
      <vt:lpstr>ui-sans-serif</vt:lpstr>
      <vt:lpstr>Wingdings</vt:lpstr>
      <vt:lpstr>Office Theme</vt:lpstr>
      <vt:lpstr>PowerPoint Presentation</vt:lpstr>
      <vt:lpstr>OUTLINE</vt:lpstr>
      <vt:lpstr>ABSTRACT</vt:lpstr>
      <vt:lpstr>INTRODUCTION</vt:lpstr>
      <vt:lpstr>INTRODUCTION</vt:lpstr>
      <vt:lpstr>INTRODUCTION</vt:lpstr>
      <vt:lpstr>LITERATURE SURVEY</vt:lpstr>
      <vt:lpstr>LITERATURE SURVEY</vt:lpstr>
      <vt:lpstr>LITERATURE SURVEY</vt:lpstr>
      <vt:lpstr>RESEARCH GAPS</vt:lpstr>
      <vt:lpstr>PROBLEM STATEMENT</vt:lpstr>
      <vt:lpstr>PROBLEM STATEMENT</vt:lpstr>
      <vt:lpstr>OBJECTIVES</vt:lpstr>
      <vt:lpstr>BLOCK DIAGRAM OR FLOW DIAGRAM</vt:lpstr>
      <vt:lpstr>BLOCK DIAGRAM OR FLOW DIAGRAM</vt:lpstr>
      <vt:lpstr>METHODOLOGY</vt:lpstr>
      <vt:lpstr>METHODOLOGY</vt:lpstr>
      <vt:lpstr>PowerPoint Presentation</vt:lpstr>
      <vt:lpstr>Implementation</vt:lpstr>
      <vt:lpstr>System Requirements</vt:lpstr>
      <vt:lpstr>Challenges  Vs Overcomes</vt:lpstr>
      <vt:lpstr>Implementation of Frontend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   RESULTS &amp; ANALYSIS</vt:lpstr>
      <vt:lpstr>RESULTS &amp; ANALYSIS</vt:lpstr>
      <vt:lpstr>RESULTS &amp; ANALYSIS</vt:lpstr>
      <vt:lpstr>RESULTS &amp; ANALYSIS</vt:lpstr>
      <vt:lpstr>RESULTS &amp; ANALYSIS</vt:lpstr>
      <vt:lpstr>RESULTS &amp; ANALYSIS</vt:lpstr>
      <vt:lpstr>CONCLUSION &amp; FUTURE SCOPE</vt:lpstr>
      <vt:lpstr>CONCLUSION &amp; FUTURE SCOPE</vt:lpstr>
      <vt:lpstr>REFERENCES</vt:lpstr>
      <vt:lpstr>            ACKNOWLEDGEMENTS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INSTRUCTIONS</dc:title>
  <dc:creator>admin</dc:creator>
  <cp:lastModifiedBy>Microsoft account</cp:lastModifiedBy>
  <cp:revision>133</cp:revision>
  <dcterms:created xsi:type="dcterms:W3CDTF">2023-12-22T11:34:02Z</dcterms:created>
  <dcterms:modified xsi:type="dcterms:W3CDTF">2026-02-09T16:55:56Z</dcterms:modified>
</cp:coreProperties>
</file>