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257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C00B14-1898-4427-B3E7-C69B7CF66988}" type="doc">
      <dgm:prSet loTypeId="urn:microsoft.com/office/officeart/2018/2/layout/IconVerticalSolidList" loCatId="icon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4A9B55-7DBC-49B8-9512-260BE56206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Introduction </a:t>
          </a:r>
          <a:r>
            <a:rPr lang="en-US" smtClean="0">
              <a:latin typeface="Times New Roman" panose="02020603050405020304" pitchFamily="18" charset="0"/>
              <a:cs typeface="Times New Roman" panose="02020603050405020304" pitchFamily="18" charset="0"/>
            </a:rPr>
            <a:t>(try to answer what it is, why it is,  and what is  (are) existing problems, why the problem is so important to discuss; may cite in the footer)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61A8FC9-FE3D-47DF-B9A3-D31F796264F5}" type="parTrans" cxnId="{B71BEF9B-18D5-48DF-9AB3-074DC3B8D9D1}">
      <dgm:prSet/>
      <dgm:spPr/>
      <dgm:t>
        <a:bodyPr/>
        <a:lstStyle/>
        <a:p>
          <a:endParaRPr lang="en-US"/>
        </a:p>
      </dgm:t>
    </dgm:pt>
    <dgm:pt modelId="{DEE42B7F-154D-4D32-BDD3-2CC540966FE1}" type="sibTrans" cxnId="{B71BEF9B-18D5-48DF-9AB3-074DC3B8D9D1}">
      <dgm:prSet/>
      <dgm:spPr/>
      <dgm:t>
        <a:bodyPr/>
        <a:lstStyle/>
        <a:p>
          <a:endParaRPr lang="en-US"/>
        </a:p>
      </dgm:t>
    </dgm:pt>
    <dgm:pt modelId="{B1A3F17A-670A-487A-95D6-A18278939A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Motivation &amp; Contributions</a:t>
          </a:r>
        </a:p>
      </dgm:t>
    </dgm:pt>
    <dgm:pt modelId="{38C41431-F718-40F7-B5ED-11183A64176C}" type="parTrans" cxnId="{89F1DB3A-7C19-488D-BEE9-1825D7F89718}">
      <dgm:prSet/>
      <dgm:spPr/>
      <dgm:t>
        <a:bodyPr/>
        <a:lstStyle/>
        <a:p>
          <a:endParaRPr lang="en-US"/>
        </a:p>
      </dgm:t>
    </dgm:pt>
    <dgm:pt modelId="{278EEEF4-E038-416B-BEC7-E5F45EC73C13}" type="sibTrans" cxnId="{89F1DB3A-7C19-488D-BEE9-1825D7F89718}">
      <dgm:prSet/>
      <dgm:spPr/>
      <dgm:t>
        <a:bodyPr/>
        <a:lstStyle/>
        <a:p>
          <a:endParaRPr lang="en-US"/>
        </a:p>
      </dgm:t>
    </dgm:pt>
    <dgm:pt modelId="{E3D80E55-A8CA-4B9B-8C19-EB56CE8D46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Proposed System Model</a:t>
          </a:r>
        </a:p>
      </dgm:t>
    </dgm:pt>
    <dgm:pt modelId="{082EFE4B-F2A6-40CC-A13D-F00E063B4139}" type="parTrans" cxnId="{C3014C8E-2C88-4F10-8995-36A3360D9A4B}">
      <dgm:prSet/>
      <dgm:spPr/>
      <dgm:t>
        <a:bodyPr/>
        <a:lstStyle/>
        <a:p>
          <a:endParaRPr lang="en-US"/>
        </a:p>
      </dgm:t>
    </dgm:pt>
    <dgm:pt modelId="{F69282E3-6EA0-4B06-9924-A5681AE91E7C}" type="sibTrans" cxnId="{C3014C8E-2C88-4F10-8995-36A3360D9A4B}">
      <dgm:prSet/>
      <dgm:spPr/>
      <dgm:t>
        <a:bodyPr/>
        <a:lstStyle/>
        <a:p>
          <a:endParaRPr lang="en-US"/>
        </a:p>
      </dgm:t>
    </dgm:pt>
    <dgm:pt modelId="{79321F06-441B-49AA-891A-31B7B6DD52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Results and Discussion</a:t>
          </a:r>
        </a:p>
      </dgm:t>
    </dgm:pt>
    <dgm:pt modelId="{AEA32CD4-6485-40FD-A477-54146CA04DEE}" type="parTrans" cxnId="{D5165637-F03B-4A1B-9A95-6929D064DA83}">
      <dgm:prSet/>
      <dgm:spPr/>
      <dgm:t>
        <a:bodyPr/>
        <a:lstStyle/>
        <a:p>
          <a:endParaRPr lang="en-US"/>
        </a:p>
      </dgm:t>
    </dgm:pt>
    <dgm:pt modelId="{526BE1C7-AD3A-4543-B67D-8DE28496FE72}" type="sibTrans" cxnId="{D5165637-F03B-4A1B-9A95-6929D064DA83}">
      <dgm:prSet/>
      <dgm:spPr/>
      <dgm:t>
        <a:bodyPr/>
        <a:lstStyle/>
        <a:p>
          <a:endParaRPr lang="en-US"/>
        </a:p>
      </dgm:t>
    </dgm:pt>
    <dgm:pt modelId="{362F2FAD-C5DF-458A-9539-16FDF8BF45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gm:t>
    </dgm:pt>
    <dgm:pt modelId="{DB06F8F7-55A4-4301-9A03-32FF30C76C9A}" type="parTrans" cxnId="{4C53C6F7-08FB-4DE7-9CCE-F1AB7363C6A8}">
      <dgm:prSet/>
      <dgm:spPr/>
      <dgm:t>
        <a:bodyPr/>
        <a:lstStyle/>
        <a:p>
          <a:endParaRPr lang="en-US"/>
        </a:p>
      </dgm:t>
    </dgm:pt>
    <dgm:pt modelId="{27C378C9-D0E0-449D-BCE9-9918CB1C5382}" type="sibTrans" cxnId="{4C53C6F7-08FB-4DE7-9CCE-F1AB7363C6A8}">
      <dgm:prSet/>
      <dgm:spPr/>
      <dgm:t>
        <a:bodyPr/>
        <a:lstStyle/>
        <a:p>
          <a:endParaRPr lang="en-US"/>
        </a:p>
      </dgm:t>
    </dgm:pt>
    <dgm:pt modelId="{49D90748-9C75-4EDF-9FF6-39FB56895D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Reference</a:t>
          </a:r>
        </a:p>
      </dgm:t>
    </dgm:pt>
    <dgm:pt modelId="{F9069F82-1E47-4BFC-A698-987668B9FDF0}" type="parTrans" cxnId="{9D47895D-7DB8-4976-8C4B-6536F38181CC}">
      <dgm:prSet/>
      <dgm:spPr/>
      <dgm:t>
        <a:bodyPr/>
        <a:lstStyle/>
        <a:p>
          <a:endParaRPr lang="en-US"/>
        </a:p>
      </dgm:t>
    </dgm:pt>
    <dgm:pt modelId="{923E47BA-F244-4E90-95AB-0B2D7D0FE1A8}" type="sibTrans" cxnId="{9D47895D-7DB8-4976-8C4B-6536F38181CC}">
      <dgm:prSet/>
      <dgm:spPr/>
      <dgm:t>
        <a:bodyPr/>
        <a:lstStyle/>
        <a:p>
          <a:endParaRPr lang="en-US"/>
        </a:p>
      </dgm:t>
    </dgm:pt>
    <dgm:pt modelId="{B981DA8F-EBE6-4872-89DC-398E0A74BC8A}" type="pres">
      <dgm:prSet presAssocID="{A1C00B14-1898-4427-B3E7-C69B7CF66988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90E9C75-611E-4BFD-81B8-558A1223810D}" type="pres">
      <dgm:prSet presAssocID="{E24A9B55-7DBC-49B8-9512-260BE56206CE}" presName="compNode" presStyleCnt="0"/>
      <dgm:spPr/>
    </dgm:pt>
    <dgm:pt modelId="{6ED40233-E8FE-4A3D-A9C5-E7F81AFE78ED}" type="pres">
      <dgm:prSet presAssocID="{E24A9B55-7DBC-49B8-9512-260BE56206CE}" presName="bgRect" presStyleLbl="bgShp" presStyleIdx="0" presStyleCnt="6"/>
      <dgm:spPr/>
    </dgm:pt>
    <dgm:pt modelId="{68A8300B-22F1-48FF-B853-989F40E20B89}" type="pres">
      <dgm:prSet presAssocID="{E24A9B55-7DBC-49B8-9512-260BE56206CE}" presName="iconRect" presStyleLbl="node1" presStyleIdx="0" presStyleCnt="6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4CF1D836-99A8-4C16-85E1-7E3C279977CF}" type="pres">
      <dgm:prSet presAssocID="{E24A9B55-7DBC-49B8-9512-260BE56206CE}" presName="spaceRect" presStyleCnt="0"/>
      <dgm:spPr/>
    </dgm:pt>
    <dgm:pt modelId="{3B66BFF7-840C-4EEC-926A-DEF1B410FD5A}" type="pres">
      <dgm:prSet presAssocID="{E24A9B55-7DBC-49B8-9512-260BE56206CE}" presName="parTx" presStyleLbl="revTx" presStyleIdx="0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2821EA9B-D7A9-49C5-A9E3-314E8DCEA1D4}" type="pres">
      <dgm:prSet presAssocID="{DEE42B7F-154D-4D32-BDD3-2CC540966FE1}" presName="sibTrans" presStyleCnt="0"/>
      <dgm:spPr/>
    </dgm:pt>
    <dgm:pt modelId="{7FFCD879-0BBC-49C9-8FBB-492E8F0AC20C}" type="pres">
      <dgm:prSet presAssocID="{B1A3F17A-670A-487A-95D6-A18278939AC0}" presName="compNode" presStyleCnt="0"/>
      <dgm:spPr/>
    </dgm:pt>
    <dgm:pt modelId="{8828A0E7-8D5C-498A-810B-3AF32E42D9B2}" type="pres">
      <dgm:prSet presAssocID="{B1A3F17A-670A-487A-95D6-A18278939AC0}" presName="bgRect" presStyleLbl="bgShp" presStyleIdx="1" presStyleCnt="6"/>
      <dgm:spPr/>
    </dgm:pt>
    <dgm:pt modelId="{9389BE19-F2A1-4F89-BCBB-70F61DDF6677}" type="pres">
      <dgm:prSet presAssocID="{B1A3F17A-670A-487A-95D6-A18278939AC0}" presName="iconRect" presStyleLbl="node1" presStyleIdx="1" presStyleCnt="6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4580DF9F-427A-402A-B015-8012EB45B1A3}" type="pres">
      <dgm:prSet presAssocID="{B1A3F17A-670A-487A-95D6-A18278939AC0}" presName="spaceRect" presStyleCnt="0"/>
      <dgm:spPr/>
    </dgm:pt>
    <dgm:pt modelId="{35C810EE-2820-4A16-BB8B-B0FF159B569B}" type="pres">
      <dgm:prSet presAssocID="{B1A3F17A-670A-487A-95D6-A18278939AC0}" presName="parTx" presStyleLbl="revTx" presStyleIdx="1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D9E3FADB-E795-4ACD-BA8A-409158ED41CC}" type="pres">
      <dgm:prSet presAssocID="{278EEEF4-E038-416B-BEC7-E5F45EC73C13}" presName="sibTrans" presStyleCnt="0"/>
      <dgm:spPr/>
    </dgm:pt>
    <dgm:pt modelId="{4F8059F6-1EB1-4F60-917B-F3A87067DB3A}" type="pres">
      <dgm:prSet presAssocID="{E3D80E55-A8CA-4B9B-8C19-EB56CE8D4691}" presName="compNode" presStyleCnt="0"/>
      <dgm:spPr/>
    </dgm:pt>
    <dgm:pt modelId="{D0783A6D-DF42-4B66-BD94-6DDB0AC28C9D}" type="pres">
      <dgm:prSet presAssocID="{E3D80E55-A8CA-4B9B-8C19-EB56CE8D4691}" presName="bgRect" presStyleLbl="bgShp" presStyleIdx="2" presStyleCnt="6"/>
      <dgm:spPr/>
    </dgm:pt>
    <dgm:pt modelId="{12CEF199-53BA-4F76-82F2-184421E764F6}" type="pres">
      <dgm:prSet presAssocID="{E3D80E55-A8CA-4B9B-8C19-EB56CE8D4691}" presName="iconRect" presStyleLbl="node1" presStyleIdx="2" presStyleCnt="6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B1B7884-0E78-412B-B9ED-2CF01824FF08}" type="pres">
      <dgm:prSet presAssocID="{E3D80E55-A8CA-4B9B-8C19-EB56CE8D4691}" presName="spaceRect" presStyleCnt="0"/>
      <dgm:spPr/>
    </dgm:pt>
    <dgm:pt modelId="{F67E244D-1270-430E-98F7-488B2D550ECD}" type="pres">
      <dgm:prSet presAssocID="{E3D80E55-A8CA-4B9B-8C19-EB56CE8D4691}" presName="parTx" presStyleLbl="revTx" presStyleIdx="2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9B9F131D-7AD5-4C7C-B748-5605856152E9}" type="pres">
      <dgm:prSet presAssocID="{F69282E3-6EA0-4B06-9924-A5681AE91E7C}" presName="sibTrans" presStyleCnt="0"/>
      <dgm:spPr/>
    </dgm:pt>
    <dgm:pt modelId="{BD6DFD49-75DB-4943-8DE9-A21178136D98}" type="pres">
      <dgm:prSet presAssocID="{79321F06-441B-49AA-891A-31B7B6DD52AC}" presName="compNode" presStyleCnt="0"/>
      <dgm:spPr/>
    </dgm:pt>
    <dgm:pt modelId="{24D7CF32-FC6C-4748-BBFB-BD3CAF72C60B}" type="pres">
      <dgm:prSet presAssocID="{79321F06-441B-49AA-891A-31B7B6DD52AC}" presName="bgRect" presStyleLbl="bgShp" presStyleIdx="3" presStyleCnt="6"/>
      <dgm:spPr/>
    </dgm:pt>
    <dgm:pt modelId="{1A5A7960-10DD-4BF8-B772-407FFE06DF95}" type="pres">
      <dgm:prSet presAssocID="{79321F06-441B-49AA-891A-31B7B6DD52AC}" presName="iconRect" presStyleLbl="node1" presStyleIdx="3" presStyleCnt="6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126DFDA-311C-427D-8F2F-C5E66E6FE958}" type="pres">
      <dgm:prSet presAssocID="{79321F06-441B-49AA-891A-31B7B6DD52AC}" presName="spaceRect" presStyleCnt="0"/>
      <dgm:spPr/>
    </dgm:pt>
    <dgm:pt modelId="{592AAAD1-2F47-447A-ADC3-C2B36B1FCA55}" type="pres">
      <dgm:prSet presAssocID="{79321F06-441B-49AA-891A-31B7B6DD52AC}" presName="parTx" presStyleLbl="revTx" presStyleIdx="3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EA4D750C-C492-44BB-A487-EBD724549700}" type="pres">
      <dgm:prSet presAssocID="{526BE1C7-AD3A-4543-B67D-8DE28496FE72}" presName="sibTrans" presStyleCnt="0"/>
      <dgm:spPr/>
    </dgm:pt>
    <dgm:pt modelId="{426BE54F-DCD7-47DD-8FC2-6E521AF694E8}" type="pres">
      <dgm:prSet presAssocID="{362F2FAD-C5DF-458A-9539-16FDF8BF450F}" presName="compNode" presStyleCnt="0"/>
      <dgm:spPr/>
    </dgm:pt>
    <dgm:pt modelId="{666E2735-CA78-4D3B-9578-E51196DA70D9}" type="pres">
      <dgm:prSet presAssocID="{362F2FAD-C5DF-458A-9539-16FDF8BF450F}" presName="bgRect" presStyleLbl="bgShp" presStyleIdx="4" presStyleCnt="6"/>
      <dgm:spPr/>
    </dgm:pt>
    <dgm:pt modelId="{3FA6C01F-8168-4711-B087-BDCE72097D44}" type="pres">
      <dgm:prSet presAssocID="{362F2FAD-C5DF-458A-9539-16FDF8BF450F}" presName="iconRect" presStyleLbl="node1" presStyleIdx="4" presStyleCnt="6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9854D06F-30BB-4075-8695-D112DD2A0F9E}" type="pres">
      <dgm:prSet presAssocID="{362F2FAD-C5DF-458A-9539-16FDF8BF450F}" presName="spaceRect" presStyleCnt="0"/>
      <dgm:spPr/>
    </dgm:pt>
    <dgm:pt modelId="{64F2101E-37B6-4A91-8969-9CAE8E240584}" type="pres">
      <dgm:prSet presAssocID="{362F2FAD-C5DF-458A-9539-16FDF8BF450F}" presName="parTx" presStyleLbl="revTx" presStyleIdx="4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FB2EE507-96E0-48EB-8595-80DCEA9B248E}" type="pres">
      <dgm:prSet presAssocID="{27C378C9-D0E0-449D-BCE9-9918CB1C5382}" presName="sibTrans" presStyleCnt="0"/>
      <dgm:spPr/>
    </dgm:pt>
    <dgm:pt modelId="{1D689B0F-01EC-4228-B193-06986BAC4AC0}" type="pres">
      <dgm:prSet presAssocID="{49D90748-9C75-4EDF-9FF6-39FB56895D3E}" presName="compNode" presStyleCnt="0"/>
      <dgm:spPr/>
    </dgm:pt>
    <dgm:pt modelId="{1B466F9E-EE2C-4F8C-B2EE-0427D8DB34C2}" type="pres">
      <dgm:prSet presAssocID="{49D90748-9C75-4EDF-9FF6-39FB56895D3E}" presName="bgRect" presStyleLbl="bgShp" presStyleIdx="5" presStyleCnt="6"/>
      <dgm:spPr/>
    </dgm:pt>
    <dgm:pt modelId="{3A8C03A0-3919-44AB-B03C-4D473190151D}" type="pres">
      <dgm:prSet presAssocID="{49D90748-9C75-4EDF-9FF6-39FB56895D3E}" presName="iconRect" presStyleLbl="node1" presStyleIdx="5" presStyleCnt="6"/>
      <dgm:spPr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D1770DF-61D6-416C-9FF2-9A76C044944B}" type="pres">
      <dgm:prSet presAssocID="{49D90748-9C75-4EDF-9FF6-39FB56895D3E}" presName="spaceRect" presStyleCnt="0"/>
      <dgm:spPr/>
    </dgm:pt>
    <dgm:pt modelId="{450821D5-1256-4458-8590-FE93415F8374}" type="pres">
      <dgm:prSet presAssocID="{49D90748-9C75-4EDF-9FF6-39FB56895D3E}" presName="parTx" presStyleLbl="revTx" presStyleIdx="5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85F5C889-29E7-460C-A6C3-6AD7E43E5919}" type="presOf" srcId="{E3D80E55-A8CA-4B9B-8C19-EB56CE8D4691}" destId="{F67E244D-1270-430E-98F7-488B2D550ECD}" srcOrd="0" destOrd="0" presId="urn:microsoft.com/office/officeart/2018/2/layout/IconVerticalSolidList"/>
    <dgm:cxn modelId="{4F0D7D67-98B9-4055-A85E-1CD77E0CD94C}" type="presOf" srcId="{A1C00B14-1898-4427-B3E7-C69B7CF66988}" destId="{B981DA8F-EBE6-4872-89DC-398E0A74BC8A}" srcOrd="0" destOrd="0" presId="urn:microsoft.com/office/officeart/2018/2/layout/IconVerticalSolidList"/>
    <dgm:cxn modelId="{C3014C8E-2C88-4F10-8995-36A3360D9A4B}" srcId="{A1C00B14-1898-4427-B3E7-C69B7CF66988}" destId="{E3D80E55-A8CA-4B9B-8C19-EB56CE8D4691}" srcOrd="2" destOrd="0" parTransId="{082EFE4B-F2A6-40CC-A13D-F00E063B4139}" sibTransId="{F69282E3-6EA0-4B06-9924-A5681AE91E7C}"/>
    <dgm:cxn modelId="{9D746C40-20C7-40CE-954F-285B5F487C86}" type="presOf" srcId="{B1A3F17A-670A-487A-95D6-A18278939AC0}" destId="{35C810EE-2820-4A16-BB8B-B0FF159B569B}" srcOrd="0" destOrd="0" presId="urn:microsoft.com/office/officeart/2018/2/layout/IconVerticalSolidList"/>
    <dgm:cxn modelId="{9D47895D-7DB8-4976-8C4B-6536F38181CC}" srcId="{A1C00B14-1898-4427-B3E7-C69B7CF66988}" destId="{49D90748-9C75-4EDF-9FF6-39FB56895D3E}" srcOrd="5" destOrd="0" parTransId="{F9069F82-1E47-4BFC-A698-987668B9FDF0}" sibTransId="{923E47BA-F244-4E90-95AB-0B2D7D0FE1A8}"/>
    <dgm:cxn modelId="{89F1DB3A-7C19-488D-BEE9-1825D7F89718}" srcId="{A1C00B14-1898-4427-B3E7-C69B7CF66988}" destId="{B1A3F17A-670A-487A-95D6-A18278939AC0}" srcOrd="1" destOrd="0" parTransId="{38C41431-F718-40F7-B5ED-11183A64176C}" sibTransId="{278EEEF4-E038-416B-BEC7-E5F45EC73C13}"/>
    <dgm:cxn modelId="{725ADCA9-55D1-42A2-B773-922F87F2557D}" type="presOf" srcId="{79321F06-441B-49AA-891A-31B7B6DD52AC}" destId="{592AAAD1-2F47-447A-ADC3-C2B36B1FCA55}" srcOrd="0" destOrd="0" presId="urn:microsoft.com/office/officeart/2018/2/layout/IconVerticalSolidList"/>
    <dgm:cxn modelId="{B71BEF9B-18D5-48DF-9AB3-074DC3B8D9D1}" srcId="{A1C00B14-1898-4427-B3E7-C69B7CF66988}" destId="{E24A9B55-7DBC-49B8-9512-260BE56206CE}" srcOrd="0" destOrd="0" parTransId="{C61A8FC9-FE3D-47DF-B9A3-D31F796264F5}" sibTransId="{DEE42B7F-154D-4D32-BDD3-2CC540966FE1}"/>
    <dgm:cxn modelId="{0205349F-9D22-4FEA-A19D-283AB406E9F8}" type="presOf" srcId="{49D90748-9C75-4EDF-9FF6-39FB56895D3E}" destId="{450821D5-1256-4458-8590-FE93415F8374}" srcOrd="0" destOrd="0" presId="urn:microsoft.com/office/officeart/2018/2/layout/IconVerticalSolidList"/>
    <dgm:cxn modelId="{B8D5F926-0AFE-4181-956A-7E3A94F55679}" type="presOf" srcId="{E24A9B55-7DBC-49B8-9512-260BE56206CE}" destId="{3B66BFF7-840C-4EEC-926A-DEF1B410FD5A}" srcOrd="0" destOrd="0" presId="urn:microsoft.com/office/officeart/2018/2/layout/IconVerticalSolidList"/>
    <dgm:cxn modelId="{68AC00B2-EA6E-4F8C-A7FD-833B24CEB5D3}" type="presOf" srcId="{362F2FAD-C5DF-458A-9539-16FDF8BF450F}" destId="{64F2101E-37B6-4A91-8969-9CAE8E240584}" srcOrd="0" destOrd="0" presId="urn:microsoft.com/office/officeart/2018/2/layout/IconVerticalSolidList"/>
    <dgm:cxn modelId="{D5165637-F03B-4A1B-9A95-6929D064DA83}" srcId="{A1C00B14-1898-4427-B3E7-C69B7CF66988}" destId="{79321F06-441B-49AA-891A-31B7B6DD52AC}" srcOrd="3" destOrd="0" parTransId="{AEA32CD4-6485-40FD-A477-54146CA04DEE}" sibTransId="{526BE1C7-AD3A-4543-B67D-8DE28496FE72}"/>
    <dgm:cxn modelId="{4C53C6F7-08FB-4DE7-9CCE-F1AB7363C6A8}" srcId="{A1C00B14-1898-4427-B3E7-C69B7CF66988}" destId="{362F2FAD-C5DF-458A-9539-16FDF8BF450F}" srcOrd="4" destOrd="0" parTransId="{DB06F8F7-55A4-4301-9A03-32FF30C76C9A}" sibTransId="{27C378C9-D0E0-449D-BCE9-9918CB1C5382}"/>
    <dgm:cxn modelId="{0E1648BA-170E-43A1-970D-DCF2E928499E}" type="presParOf" srcId="{B981DA8F-EBE6-4872-89DC-398E0A74BC8A}" destId="{990E9C75-611E-4BFD-81B8-558A1223810D}" srcOrd="0" destOrd="0" presId="urn:microsoft.com/office/officeart/2018/2/layout/IconVerticalSolidList"/>
    <dgm:cxn modelId="{02D67932-4471-4266-AE74-78938F656336}" type="presParOf" srcId="{990E9C75-611E-4BFD-81B8-558A1223810D}" destId="{6ED40233-E8FE-4A3D-A9C5-E7F81AFE78ED}" srcOrd="0" destOrd="0" presId="urn:microsoft.com/office/officeart/2018/2/layout/IconVerticalSolidList"/>
    <dgm:cxn modelId="{5A84D12A-21FA-41FD-BDB5-64A85F60A9CA}" type="presParOf" srcId="{990E9C75-611E-4BFD-81B8-558A1223810D}" destId="{68A8300B-22F1-48FF-B853-989F40E20B89}" srcOrd="1" destOrd="0" presId="urn:microsoft.com/office/officeart/2018/2/layout/IconVerticalSolidList"/>
    <dgm:cxn modelId="{B4634940-8D74-4CC3-9176-BD1629C82437}" type="presParOf" srcId="{990E9C75-611E-4BFD-81B8-558A1223810D}" destId="{4CF1D836-99A8-4C16-85E1-7E3C279977CF}" srcOrd="2" destOrd="0" presId="urn:microsoft.com/office/officeart/2018/2/layout/IconVerticalSolidList"/>
    <dgm:cxn modelId="{A0D0B8DD-8031-4625-B5DA-FDD722DFD5B7}" type="presParOf" srcId="{990E9C75-611E-4BFD-81B8-558A1223810D}" destId="{3B66BFF7-840C-4EEC-926A-DEF1B410FD5A}" srcOrd="3" destOrd="0" presId="urn:microsoft.com/office/officeart/2018/2/layout/IconVerticalSolidList"/>
    <dgm:cxn modelId="{A4F85704-29C6-4FAB-8183-EAF514138637}" type="presParOf" srcId="{B981DA8F-EBE6-4872-89DC-398E0A74BC8A}" destId="{2821EA9B-D7A9-49C5-A9E3-314E8DCEA1D4}" srcOrd="1" destOrd="0" presId="urn:microsoft.com/office/officeart/2018/2/layout/IconVerticalSolidList"/>
    <dgm:cxn modelId="{12F48814-0DBB-4839-9226-E18B5C4ABBDD}" type="presParOf" srcId="{B981DA8F-EBE6-4872-89DC-398E0A74BC8A}" destId="{7FFCD879-0BBC-49C9-8FBB-492E8F0AC20C}" srcOrd="2" destOrd="0" presId="urn:microsoft.com/office/officeart/2018/2/layout/IconVerticalSolidList"/>
    <dgm:cxn modelId="{82736AFE-78DC-4603-805D-2CAC8B333370}" type="presParOf" srcId="{7FFCD879-0BBC-49C9-8FBB-492E8F0AC20C}" destId="{8828A0E7-8D5C-498A-810B-3AF32E42D9B2}" srcOrd="0" destOrd="0" presId="urn:microsoft.com/office/officeart/2018/2/layout/IconVerticalSolidList"/>
    <dgm:cxn modelId="{68082EB0-AA12-4F14-ACE9-C01ED7C69341}" type="presParOf" srcId="{7FFCD879-0BBC-49C9-8FBB-492E8F0AC20C}" destId="{9389BE19-F2A1-4F89-BCBB-70F61DDF6677}" srcOrd="1" destOrd="0" presId="urn:microsoft.com/office/officeart/2018/2/layout/IconVerticalSolidList"/>
    <dgm:cxn modelId="{1EE440A9-B8FC-48B3-8D84-9A823B5FF9D3}" type="presParOf" srcId="{7FFCD879-0BBC-49C9-8FBB-492E8F0AC20C}" destId="{4580DF9F-427A-402A-B015-8012EB45B1A3}" srcOrd="2" destOrd="0" presId="urn:microsoft.com/office/officeart/2018/2/layout/IconVerticalSolidList"/>
    <dgm:cxn modelId="{9E7582D5-8057-459A-A790-D599A1D0685B}" type="presParOf" srcId="{7FFCD879-0BBC-49C9-8FBB-492E8F0AC20C}" destId="{35C810EE-2820-4A16-BB8B-B0FF159B569B}" srcOrd="3" destOrd="0" presId="urn:microsoft.com/office/officeart/2018/2/layout/IconVerticalSolidList"/>
    <dgm:cxn modelId="{9332FA07-A67E-40B1-8C2B-61FA620E98A8}" type="presParOf" srcId="{B981DA8F-EBE6-4872-89DC-398E0A74BC8A}" destId="{D9E3FADB-E795-4ACD-BA8A-409158ED41CC}" srcOrd="3" destOrd="0" presId="urn:microsoft.com/office/officeart/2018/2/layout/IconVerticalSolidList"/>
    <dgm:cxn modelId="{F27435CE-A612-4D97-93D8-693F3124428F}" type="presParOf" srcId="{B981DA8F-EBE6-4872-89DC-398E0A74BC8A}" destId="{4F8059F6-1EB1-4F60-917B-F3A87067DB3A}" srcOrd="4" destOrd="0" presId="urn:microsoft.com/office/officeart/2018/2/layout/IconVerticalSolidList"/>
    <dgm:cxn modelId="{C83F7FEE-A010-407C-BE3A-C6ECB9D176FF}" type="presParOf" srcId="{4F8059F6-1EB1-4F60-917B-F3A87067DB3A}" destId="{D0783A6D-DF42-4B66-BD94-6DDB0AC28C9D}" srcOrd="0" destOrd="0" presId="urn:microsoft.com/office/officeart/2018/2/layout/IconVerticalSolidList"/>
    <dgm:cxn modelId="{9847942E-BC6F-47EE-9941-73A21F491CF1}" type="presParOf" srcId="{4F8059F6-1EB1-4F60-917B-F3A87067DB3A}" destId="{12CEF199-53BA-4F76-82F2-184421E764F6}" srcOrd="1" destOrd="0" presId="urn:microsoft.com/office/officeart/2018/2/layout/IconVerticalSolidList"/>
    <dgm:cxn modelId="{8137A8DB-4EC1-4235-9EF3-8C3FE86B2045}" type="presParOf" srcId="{4F8059F6-1EB1-4F60-917B-F3A87067DB3A}" destId="{BB1B7884-0E78-412B-B9ED-2CF01824FF08}" srcOrd="2" destOrd="0" presId="urn:microsoft.com/office/officeart/2018/2/layout/IconVerticalSolidList"/>
    <dgm:cxn modelId="{ACC2C7EE-98A3-467A-8B1C-5B26DAAA4750}" type="presParOf" srcId="{4F8059F6-1EB1-4F60-917B-F3A87067DB3A}" destId="{F67E244D-1270-430E-98F7-488B2D550ECD}" srcOrd="3" destOrd="0" presId="urn:microsoft.com/office/officeart/2018/2/layout/IconVerticalSolidList"/>
    <dgm:cxn modelId="{F2F5C397-7816-41EF-9DCE-6F1A434EBFAE}" type="presParOf" srcId="{B981DA8F-EBE6-4872-89DC-398E0A74BC8A}" destId="{9B9F131D-7AD5-4C7C-B748-5605856152E9}" srcOrd="5" destOrd="0" presId="urn:microsoft.com/office/officeart/2018/2/layout/IconVerticalSolidList"/>
    <dgm:cxn modelId="{0D5D0E21-B432-4B72-95F1-C1687DCD26DA}" type="presParOf" srcId="{B981DA8F-EBE6-4872-89DC-398E0A74BC8A}" destId="{BD6DFD49-75DB-4943-8DE9-A21178136D98}" srcOrd="6" destOrd="0" presId="urn:microsoft.com/office/officeart/2018/2/layout/IconVerticalSolidList"/>
    <dgm:cxn modelId="{A4330D6B-A10A-4E98-BD0B-66D0D14610FC}" type="presParOf" srcId="{BD6DFD49-75DB-4943-8DE9-A21178136D98}" destId="{24D7CF32-FC6C-4748-BBFB-BD3CAF72C60B}" srcOrd="0" destOrd="0" presId="urn:microsoft.com/office/officeart/2018/2/layout/IconVerticalSolidList"/>
    <dgm:cxn modelId="{C7635C0B-4E19-4CC5-B681-14FDC1B837C0}" type="presParOf" srcId="{BD6DFD49-75DB-4943-8DE9-A21178136D98}" destId="{1A5A7960-10DD-4BF8-B772-407FFE06DF95}" srcOrd="1" destOrd="0" presId="urn:microsoft.com/office/officeart/2018/2/layout/IconVerticalSolidList"/>
    <dgm:cxn modelId="{E0525CA6-8E74-4960-9216-EF3885A78231}" type="presParOf" srcId="{BD6DFD49-75DB-4943-8DE9-A21178136D98}" destId="{0126DFDA-311C-427D-8F2F-C5E66E6FE958}" srcOrd="2" destOrd="0" presId="urn:microsoft.com/office/officeart/2018/2/layout/IconVerticalSolidList"/>
    <dgm:cxn modelId="{3C4207D2-3E71-4A4A-B0A8-53764437B3B7}" type="presParOf" srcId="{BD6DFD49-75DB-4943-8DE9-A21178136D98}" destId="{592AAAD1-2F47-447A-ADC3-C2B36B1FCA55}" srcOrd="3" destOrd="0" presId="urn:microsoft.com/office/officeart/2018/2/layout/IconVerticalSolidList"/>
    <dgm:cxn modelId="{E1C9CF9D-33A2-4A0C-B1F4-D11E3BEDA275}" type="presParOf" srcId="{B981DA8F-EBE6-4872-89DC-398E0A74BC8A}" destId="{EA4D750C-C492-44BB-A487-EBD724549700}" srcOrd="7" destOrd="0" presId="urn:microsoft.com/office/officeart/2018/2/layout/IconVerticalSolidList"/>
    <dgm:cxn modelId="{95FCEE10-46C2-4525-B5D7-EFDBC42D9A1D}" type="presParOf" srcId="{B981DA8F-EBE6-4872-89DC-398E0A74BC8A}" destId="{426BE54F-DCD7-47DD-8FC2-6E521AF694E8}" srcOrd="8" destOrd="0" presId="urn:microsoft.com/office/officeart/2018/2/layout/IconVerticalSolidList"/>
    <dgm:cxn modelId="{FCB41F44-973F-431E-9E09-C2047917EBEC}" type="presParOf" srcId="{426BE54F-DCD7-47DD-8FC2-6E521AF694E8}" destId="{666E2735-CA78-4D3B-9578-E51196DA70D9}" srcOrd="0" destOrd="0" presId="urn:microsoft.com/office/officeart/2018/2/layout/IconVerticalSolidList"/>
    <dgm:cxn modelId="{008EE580-4D78-4689-80C6-C5FC80D38351}" type="presParOf" srcId="{426BE54F-DCD7-47DD-8FC2-6E521AF694E8}" destId="{3FA6C01F-8168-4711-B087-BDCE72097D44}" srcOrd="1" destOrd="0" presId="urn:microsoft.com/office/officeart/2018/2/layout/IconVerticalSolidList"/>
    <dgm:cxn modelId="{B6253354-4631-48B5-A064-978F34DCCBAD}" type="presParOf" srcId="{426BE54F-DCD7-47DD-8FC2-6E521AF694E8}" destId="{9854D06F-30BB-4075-8695-D112DD2A0F9E}" srcOrd="2" destOrd="0" presId="urn:microsoft.com/office/officeart/2018/2/layout/IconVerticalSolidList"/>
    <dgm:cxn modelId="{02DAD2E1-7EF5-4C95-9898-31ED92ACA260}" type="presParOf" srcId="{426BE54F-DCD7-47DD-8FC2-6E521AF694E8}" destId="{64F2101E-37B6-4A91-8969-9CAE8E240584}" srcOrd="3" destOrd="0" presId="urn:microsoft.com/office/officeart/2018/2/layout/IconVerticalSolidList"/>
    <dgm:cxn modelId="{00F6BF17-B4C5-4390-BECF-B27699C77098}" type="presParOf" srcId="{B981DA8F-EBE6-4872-89DC-398E0A74BC8A}" destId="{FB2EE507-96E0-48EB-8595-80DCEA9B248E}" srcOrd="9" destOrd="0" presId="urn:microsoft.com/office/officeart/2018/2/layout/IconVerticalSolidList"/>
    <dgm:cxn modelId="{0D88C996-3B2A-4053-99BC-165BC98E0D00}" type="presParOf" srcId="{B981DA8F-EBE6-4872-89DC-398E0A74BC8A}" destId="{1D689B0F-01EC-4228-B193-06986BAC4AC0}" srcOrd="10" destOrd="0" presId="urn:microsoft.com/office/officeart/2018/2/layout/IconVerticalSolidList"/>
    <dgm:cxn modelId="{3A18BAC9-062F-4DC7-ABAA-76A5B6A56C3C}" type="presParOf" srcId="{1D689B0F-01EC-4228-B193-06986BAC4AC0}" destId="{1B466F9E-EE2C-4F8C-B2EE-0427D8DB34C2}" srcOrd="0" destOrd="0" presId="urn:microsoft.com/office/officeart/2018/2/layout/IconVerticalSolidList"/>
    <dgm:cxn modelId="{9AF26296-6DF7-4BC3-9CF5-54DCDB99B1C4}" type="presParOf" srcId="{1D689B0F-01EC-4228-B193-06986BAC4AC0}" destId="{3A8C03A0-3919-44AB-B03C-4D473190151D}" srcOrd="1" destOrd="0" presId="urn:microsoft.com/office/officeart/2018/2/layout/IconVerticalSolidList"/>
    <dgm:cxn modelId="{BA68F1DB-232D-4924-9C50-E73C35D985F1}" type="presParOf" srcId="{1D689B0F-01EC-4228-B193-06986BAC4AC0}" destId="{BD1770DF-61D6-416C-9FF2-9A76C044944B}" srcOrd="2" destOrd="0" presId="urn:microsoft.com/office/officeart/2018/2/layout/IconVerticalSolidList"/>
    <dgm:cxn modelId="{7F3DD52E-F71C-41A9-AB60-E6A01325CDF2}" type="presParOf" srcId="{1D689B0F-01EC-4228-B193-06986BAC4AC0}" destId="{450821D5-1256-4458-8590-FE93415F837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40233-E8FE-4A3D-A9C5-E7F81AFE78ED}">
      <dsp:nvSpPr>
        <dsp:cNvPr id="0" name=""/>
        <dsp:cNvSpPr/>
      </dsp:nvSpPr>
      <dsp:spPr>
        <a:xfrm>
          <a:off x="0" y="1407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8A8300B-22F1-48FF-B853-989F40E20B89}">
      <dsp:nvSpPr>
        <dsp:cNvPr id="0" name=""/>
        <dsp:cNvSpPr/>
      </dsp:nvSpPr>
      <dsp:spPr>
        <a:xfrm>
          <a:off x="181438" y="136361"/>
          <a:ext cx="329887" cy="329887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B66BFF7-840C-4EEC-926A-DEF1B410FD5A}">
      <dsp:nvSpPr>
        <dsp:cNvPr id="0" name=""/>
        <dsp:cNvSpPr/>
      </dsp:nvSpPr>
      <dsp:spPr>
        <a:xfrm>
          <a:off x="692764" y="1407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Introduction </a:t>
          </a:r>
          <a:r>
            <a:rPr lang="en-US" sz="16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(try to answer what it is, why it is,  and what is  (are) existing problems, why the problem is so important to discuss; may cite in the footer)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92764" y="1407"/>
        <a:ext cx="9822835" cy="599796"/>
      </dsp:txXfrm>
    </dsp:sp>
    <dsp:sp modelId="{8828A0E7-8D5C-498A-810B-3AF32E42D9B2}">
      <dsp:nvSpPr>
        <dsp:cNvPr id="0" name=""/>
        <dsp:cNvSpPr/>
      </dsp:nvSpPr>
      <dsp:spPr>
        <a:xfrm>
          <a:off x="0" y="751152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389BE19-F2A1-4F89-BCBB-70F61DDF6677}">
      <dsp:nvSpPr>
        <dsp:cNvPr id="0" name=""/>
        <dsp:cNvSpPr/>
      </dsp:nvSpPr>
      <dsp:spPr>
        <a:xfrm>
          <a:off x="181438" y="886107"/>
          <a:ext cx="329887" cy="329887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C810EE-2820-4A16-BB8B-B0FF159B569B}">
      <dsp:nvSpPr>
        <dsp:cNvPr id="0" name=""/>
        <dsp:cNvSpPr/>
      </dsp:nvSpPr>
      <dsp:spPr>
        <a:xfrm>
          <a:off x="692764" y="751152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Motivation &amp; Contributions</a:t>
          </a:r>
        </a:p>
      </dsp:txBody>
      <dsp:txXfrm>
        <a:off x="692764" y="751152"/>
        <a:ext cx="9822835" cy="599796"/>
      </dsp:txXfrm>
    </dsp:sp>
    <dsp:sp modelId="{D0783A6D-DF42-4B66-BD94-6DDB0AC28C9D}">
      <dsp:nvSpPr>
        <dsp:cNvPr id="0" name=""/>
        <dsp:cNvSpPr/>
      </dsp:nvSpPr>
      <dsp:spPr>
        <a:xfrm>
          <a:off x="0" y="150089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2CEF199-53BA-4F76-82F2-184421E764F6}">
      <dsp:nvSpPr>
        <dsp:cNvPr id="0" name=""/>
        <dsp:cNvSpPr/>
      </dsp:nvSpPr>
      <dsp:spPr>
        <a:xfrm>
          <a:off x="181438" y="1635852"/>
          <a:ext cx="329887" cy="329887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67E244D-1270-430E-98F7-488B2D550ECD}">
      <dsp:nvSpPr>
        <dsp:cNvPr id="0" name=""/>
        <dsp:cNvSpPr/>
      </dsp:nvSpPr>
      <dsp:spPr>
        <a:xfrm>
          <a:off x="692764" y="150089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Proposed System Model</a:t>
          </a:r>
        </a:p>
      </dsp:txBody>
      <dsp:txXfrm>
        <a:off x="692764" y="1500898"/>
        <a:ext cx="9822835" cy="599796"/>
      </dsp:txXfrm>
    </dsp:sp>
    <dsp:sp modelId="{24D7CF32-FC6C-4748-BBFB-BD3CAF72C60B}">
      <dsp:nvSpPr>
        <dsp:cNvPr id="0" name=""/>
        <dsp:cNvSpPr/>
      </dsp:nvSpPr>
      <dsp:spPr>
        <a:xfrm>
          <a:off x="0" y="2250643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A5A7960-10DD-4BF8-B772-407FFE06DF95}">
      <dsp:nvSpPr>
        <dsp:cNvPr id="0" name=""/>
        <dsp:cNvSpPr/>
      </dsp:nvSpPr>
      <dsp:spPr>
        <a:xfrm>
          <a:off x="181438" y="2385597"/>
          <a:ext cx="329887" cy="329887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2AAAD1-2F47-447A-ADC3-C2B36B1FCA55}">
      <dsp:nvSpPr>
        <dsp:cNvPr id="0" name=""/>
        <dsp:cNvSpPr/>
      </dsp:nvSpPr>
      <dsp:spPr>
        <a:xfrm>
          <a:off x="692764" y="2250643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Results and Discussion</a:t>
          </a:r>
        </a:p>
      </dsp:txBody>
      <dsp:txXfrm>
        <a:off x="692764" y="2250643"/>
        <a:ext cx="9822835" cy="599796"/>
      </dsp:txXfrm>
    </dsp:sp>
    <dsp:sp modelId="{666E2735-CA78-4D3B-9578-E51196DA70D9}">
      <dsp:nvSpPr>
        <dsp:cNvPr id="0" name=""/>
        <dsp:cNvSpPr/>
      </dsp:nvSpPr>
      <dsp:spPr>
        <a:xfrm>
          <a:off x="0" y="3000388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FA6C01F-8168-4711-B087-BDCE72097D44}">
      <dsp:nvSpPr>
        <dsp:cNvPr id="0" name=""/>
        <dsp:cNvSpPr/>
      </dsp:nvSpPr>
      <dsp:spPr>
        <a:xfrm>
          <a:off x="181438" y="3135342"/>
          <a:ext cx="329887" cy="329887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F2101E-37B6-4A91-8969-9CAE8E240584}">
      <dsp:nvSpPr>
        <dsp:cNvPr id="0" name=""/>
        <dsp:cNvSpPr/>
      </dsp:nvSpPr>
      <dsp:spPr>
        <a:xfrm>
          <a:off x="692764" y="300038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sp:txBody>
      <dsp:txXfrm>
        <a:off x="692764" y="3000388"/>
        <a:ext cx="9822835" cy="599796"/>
      </dsp:txXfrm>
    </dsp:sp>
    <dsp:sp modelId="{1B466F9E-EE2C-4F8C-B2EE-0427D8DB34C2}">
      <dsp:nvSpPr>
        <dsp:cNvPr id="0" name=""/>
        <dsp:cNvSpPr/>
      </dsp:nvSpPr>
      <dsp:spPr>
        <a:xfrm>
          <a:off x="0" y="3750134"/>
          <a:ext cx="10515600" cy="5997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A8C03A0-3919-44AB-B03C-4D473190151D}">
      <dsp:nvSpPr>
        <dsp:cNvPr id="0" name=""/>
        <dsp:cNvSpPr/>
      </dsp:nvSpPr>
      <dsp:spPr>
        <a:xfrm>
          <a:off x="181438" y="3885088"/>
          <a:ext cx="329887" cy="329887"/>
        </a:xfrm>
        <a:prstGeom prst="rect">
          <a:avLst/>
        </a:prstGeom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0821D5-1256-4458-8590-FE93415F8374}">
      <dsp:nvSpPr>
        <dsp:cNvPr id="0" name=""/>
        <dsp:cNvSpPr/>
      </dsp:nvSpPr>
      <dsp:spPr>
        <a:xfrm>
          <a:off x="692764" y="3750134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Reference</a:t>
          </a:r>
        </a:p>
      </dsp:txBody>
      <dsp:txXfrm>
        <a:off x="692764" y="3750134"/>
        <a:ext cx="9822835" cy="599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34D7D-382B-4E04-AFC5-53E0375D9FB6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3FBDD-3EFC-42F9-833C-52E1A90E7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925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3FBDD-3EFC-42F9-833C-52E1A90E771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786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2033AD2-8C4A-9821-AAAC-7E103E855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FEC905DD-8278-F9B5-E6CA-F4F9F52E1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33B601A-E7ED-CB8E-EF2F-C6BC812A9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2BFE0A5-AF03-073D-0DCF-DF928A32F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509D731-B10F-C233-A271-0F846598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23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71918EB-B113-72FA-BDB5-1534D686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AD43801-B6E1-9603-C7C3-6CA1B73E7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969EAC3-14CE-5AED-EBBA-524E389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2CA116E-C9C6-A170-195A-12C69AC83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DEE9DFF-8E44-CFA0-9AFD-830BE00E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94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3611376-5A2E-6677-4087-F28D6F50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529898D-0B77-32E8-5442-325E468CA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4058CC-ABCE-B78D-B8C7-C265C013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EE76DED-79CE-EA5E-6C63-9CF27372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020DE22-0795-65D4-1184-06E2E351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2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CAD71A1-1674-52C8-ECD4-92A934722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7DB2A5E-3929-3271-AC24-DF4F4C7D4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64B36B7-607B-853B-F7DF-4BDA36D39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E4E313F-EC56-15C2-596E-733070BE8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C090433-FB9E-9DE0-9B31-41B9260C8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D519218-F270-121B-1B4D-D93A8D83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47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24D2BC-0C65-28B8-E5E3-456B3B41B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833D9D8-BE10-9455-7209-A9B039231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E03B2E2-CFD2-F1D3-B465-F4E980D3D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5E6332C1-1C50-08F9-1F10-E511030B8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9D5FB9B-F2E2-7881-D3D3-EF0473595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0FF4199-B492-4C34-9D0F-5953D38BB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270326D4-E240-8193-7ED4-3102E9B4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2FA9AB64-DDC5-BB23-E175-EF8B1CB13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201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A1D139C-CE67-82AE-954A-6185AF9EE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479AE0E0-EE7B-F153-2702-C2CA5E010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FA31824A-E2F0-CB58-19FC-7B918942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A9E26FC-CD2E-7DEC-AFD1-BA69CF60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62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7F76821F-98EF-7E46-8A33-973D9AEE0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5FD3029-5B0D-1739-FD6F-E4D7F8FBD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5FE61D0-197D-B2B2-49DD-E37C54B6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071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10E689-EB6F-CFF6-84D9-949B4DE29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94E6BAE-3DC6-A03E-B4D6-46C99E634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1F4DCF4-FDD7-97A2-758A-B3252E5EC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C8CBDE6-2D92-DACF-17A5-F997EF8C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3D47FFD-6C20-30CE-9760-FD39F0145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AA1A678-F8D2-AAB7-14A7-DEE217DC1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059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FFD9DC-5F58-7025-893F-1DAFB6E6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F53EC55B-420A-3B1E-A68A-7E3AADA8A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3BCBD78-2057-5A67-5000-9E0D5B3FE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79FB661-0ABE-74F8-2444-4429D24CA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98A8186-798B-531D-D910-29870272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9D27543-963E-82A2-BF04-B84736486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825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FC36283-85B9-AC00-0E4F-20E27C5DB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A359364C-06F5-6E60-89F6-BE3D3CD1C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F48B14D-5107-01B3-115B-E1FB801E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00BEF9E-2ECE-FDD3-3DF1-06ADF338C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2959C63-8F45-E0A1-2618-05D2A98C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032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C9FE5C0-89AA-EAA6-CE5D-8DE05E154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98E9EA8-6033-A9D4-F937-E051CD083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CB7451C-7A4C-8AF7-A61A-671DE2EBD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95A0A70-B8A1-54DF-B5BA-0FB755B2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58D3DB8-D4A2-AF2E-7109-8AEA85E7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641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8415DCBB-6F10-ED9A-9075-252DD0BF1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77586F1-754D-953B-56D9-8D39C11F1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982AA8E-E7FC-649F-E159-A0E498534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45CFDC-8ACB-436C-8AA1-D7A53CB73F5C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D4D6950-29F4-F30B-2E7C-793287A71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D0B3C7C-4A36-7024-ED42-3C90E84B7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328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="" xmlns:a16="http://schemas.microsoft.com/office/drawing/2014/main" id="{C552714D-0746-516F-8E04-8CD9710DDD4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 flipV="1">
            <a:off x="0" y="4851085"/>
            <a:ext cx="12202174" cy="2020500"/>
            <a:chOff x="0" y="-29768"/>
            <a:chExt cx="12202174" cy="1519356"/>
          </a:xfrm>
        </p:grpSpPr>
        <p:sp>
          <p:nvSpPr>
            <p:cNvPr id="58" name="Rectangle 57">
              <a:extLst>
                <a:ext uri="{FF2B5EF4-FFF2-40B4-BE49-F238E27FC236}">
                  <a16:creationId xmlns="" xmlns:a16="http://schemas.microsoft.com/office/drawing/2014/main" id="{FCA41354-436C-9656-0817-56B6CF8CDBC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="" xmlns:a16="http://schemas.microsoft.com/office/drawing/2014/main" id="{27863EEE-38BD-6BC9-BA81-2F33679D35F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="" xmlns:a16="http://schemas.microsoft.com/office/drawing/2014/main" id="{B0A65459-0869-1AF9-758A-0BF65F12825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29FF46-934D-281C-4788-4DBBD1732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155" y="340382"/>
            <a:ext cx="8949690" cy="702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2025 IEEE </a:t>
            </a:r>
            <a:r>
              <a:rPr lang="en-US" sz="3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iSSSC</a:t>
            </a: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D483C19-D74C-6BAB-F2B0-CB88756A2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6801" y="1142013"/>
            <a:ext cx="8949689" cy="5046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2025 IEEE 3</a:t>
            </a:r>
            <a:r>
              <a:rPr lang="en-US" sz="1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Symposium on Sustainable Energy, Signal Processing &amp; 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4977B052-A708-C74F-78C4-27D5A6152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12864" y="2314967"/>
            <a:ext cx="2554872" cy="1690745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DA244468-B6C5-31B2-D3D9-194999B73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68934" y="2314966"/>
            <a:ext cx="2625213" cy="1690746"/>
          </a:xfrm>
          <a:prstGeom prst="rect">
            <a:avLst/>
          </a:prstGeom>
          <a:noFill/>
        </p:spPr>
      </p:pic>
      <p:pic>
        <p:nvPicPr>
          <p:cNvPr id="8" name="Picture 4" descr="Future Archives - GIET University | Odisha | Gunupur">
            <a:extLst>
              <a:ext uri="{FF2B5EF4-FFF2-40B4-BE49-F238E27FC236}">
                <a16:creationId xmlns="" xmlns:a16="http://schemas.microsoft.com/office/drawing/2014/main" id="{9896EF33-D53E-025C-9029-9B7C4F96B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83590" y="2260508"/>
            <a:ext cx="2318144" cy="192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IEEE-iSSSC 2025">
            <a:extLst>
              <a:ext uri="{FF2B5EF4-FFF2-40B4-BE49-F238E27FC236}">
                <a16:creationId xmlns="" xmlns:a16="http://schemas.microsoft.com/office/drawing/2014/main" id="{2BAD6A66-FA72-E39F-9434-A393452A74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4546" y="143029"/>
            <a:ext cx="1406013" cy="766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Picture 33" descr="PECTEA 2025">
            <a:extLst>
              <a:ext uri="{FF2B5EF4-FFF2-40B4-BE49-F238E27FC236}">
                <a16:creationId xmlns="" xmlns:a16="http://schemas.microsoft.com/office/drawing/2014/main" id="{A5E7BF9E-3CF7-E17C-3082-225729AF854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6" t="27047" r="9252" b="24555"/>
          <a:stretch/>
        </p:blipFill>
        <p:spPr bwMode="auto">
          <a:xfrm>
            <a:off x="91441" y="32625"/>
            <a:ext cx="1238864" cy="76386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46DFEB3E-6DE8-7160-DA14-35C64272770B}"/>
              </a:ext>
            </a:extLst>
          </p:cNvPr>
          <p:cNvSpPr txBox="1"/>
          <p:nvPr/>
        </p:nvSpPr>
        <p:spPr>
          <a:xfrm>
            <a:off x="986803" y="4964542"/>
            <a:ext cx="105896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Paper Title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Microplastic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in Holographic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Images Using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Swin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Transformer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V2</a:t>
            </a:r>
          </a:p>
          <a:p>
            <a:pPr algn="ctr"/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ID:638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Presenter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Polisetty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Rishitha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smtClean="0"/>
              <a:t> Sireesha Moturi, </a:t>
            </a:r>
            <a:r>
              <a:rPr lang="en-IN" err="1" smtClean="0"/>
              <a:t>Sampath</a:t>
            </a:r>
            <a:r>
              <a:rPr lang="en-IN" smtClean="0"/>
              <a:t> Kumar </a:t>
            </a:r>
            <a:r>
              <a:rPr lang="en-IN" err="1" smtClean="0"/>
              <a:t>Mabanu</a:t>
            </a:r>
            <a:r>
              <a:rPr lang="en-IN" smtClean="0"/>
              <a:t>, Polisetty </a:t>
            </a:r>
            <a:r>
              <a:rPr lang="en-IN" err="1" smtClean="0"/>
              <a:t>rishitha,Mohana</a:t>
            </a:r>
            <a:r>
              <a:rPr lang="en-IN" smtClean="0"/>
              <a:t> Sai Krupa </a:t>
            </a:r>
            <a:r>
              <a:rPr lang="en-IN" err="1" smtClean="0"/>
              <a:t>Nagasarapu</a:t>
            </a:r>
            <a:r>
              <a:rPr lang="en-IN" smtClean="0"/>
              <a:t>, Lakshmi </a:t>
            </a:r>
            <a:r>
              <a:rPr lang="en-IN" err="1" smtClean="0"/>
              <a:t>Rayala</a:t>
            </a:r>
            <a:endParaRPr lang="en-IN" smtClean="0"/>
          </a:p>
          <a:p>
            <a:pPr algn="ctr"/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Affiliation:</a:t>
            </a:r>
            <a:r>
              <a:rPr lang="en-IN" err="1"/>
              <a:t>Narasaraopeta</a:t>
            </a:r>
            <a:r>
              <a:rPr lang="en-IN"/>
              <a:t> Engineering College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912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Future Archives - GIET University | Odisha | Gunupur">
            <a:extLst>
              <a:ext uri="{FF2B5EF4-FFF2-40B4-BE49-F238E27FC236}">
                <a16:creationId xmlns="" xmlns:a16="http://schemas.microsoft.com/office/drawing/2014/main" id="{2D5BAE0E-0F08-84DE-3066-AE05EF89A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7" b="23515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Rectangle 104">
            <a:extLst>
              <a:ext uri="{FF2B5EF4-FFF2-40B4-BE49-F238E27FC236}">
                <a16:creationId xmlns="" xmlns:a16="http://schemas.microsoft.com/office/drawing/2014/main" id="{B50AB553-2A96-4A92-96F2-93548E0969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3BCE52-8982-A32D-4BD8-8DD41860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3" name="Content Placeholder 2">
            <a:extLst>
              <a:ext uri="{FF2B5EF4-FFF2-40B4-BE49-F238E27FC236}">
                <a16:creationId xmlns="" xmlns:a16="http://schemas.microsoft.com/office/drawing/2014/main" id="{7631F7ED-D135-7CCE-B7EB-67B04AC783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90873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5556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="" xmlns:a16="http://schemas.microsoft.com/office/drawing/2014/main" id="{979E27D9-03C7-44E2-9FF8-15D0C8506A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26285B2-8646-AEDA-0D23-98C44F19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37" y="105233"/>
            <a:ext cx="9688296" cy="1210219"/>
          </a:xfrm>
        </p:spPr>
        <p:txBody>
          <a:bodyPr anchor="b">
            <a:norm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/>
          </a:p>
        </p:txBody>
      </p:sp>
      <p:sp>
        <p:nvSpPr>
          <p:cNvPr id="47" name="Rectangle 46">
            <a:extLst>
              <a:ext uri="{FF2B5EF4-FFF2-40B4-BE49-F238E27FC236}">
                <a16:creationId xmlns="" xmlns:a16="http://schemas.microsoft.com/office/drawing/2014/main" id="{EEBF1590-3B36-48EE-A89D-3B6F3CB256A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="" xmlns:a16="http://schemas.microsoft.com/office/drawing/2014/main" id="{AC8F6C8C-AB5A-4548-942D-E3FD40ACBC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="" xmlns:a16="http://schemas.microsoft.com/office/drawing/2014/main" id="{AA34A278-C48C-D3BF-B494-CF6F0609B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61" y="1527574"/>
            <a:ext cx="11483677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err="1">
                <a:latin typeface="Arial" panose="020B0604020202020204" pitchFamily="34" charset="0"/>
                <a:cs typeface="Arial" panose="020B0604020202020204" pitchFamily="34" charset="0"/>
              </a:rPr>
              <a:t>Microplastics</a:t>
            </a: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 are tiny plastic fragments (&lt;5 mm) that </a:t>
            </a:r>
            <a:r>
              <a:rPr smtClean="0">
                <a:latin typeface="Arial" panose="020B0604020202020204" pitchFamily="34" charset="0"/>
                <a:cs typeface="Arial" panose="020B0604020202020204" pitchFamily="34" charset="0"/>
              </a:rPr>
              <a:t>pollute oceans </a:t>
            </a: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and freshwater systems, posing severe ecological and health risks.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Manual microscopic detection of </a:t>
            </a:r>
            <a:r>
              <a:rPr err="1">
                <a:latin typeface="Arial" panose="020B0604020202020204" pitchFamily="34" charset="0"/>
                <a:cs typeface="Arial" panose="020B0604020202020204" pitchFamily="34" charset="0"/>
              </a:rPr>
              <a:t>microplastics</a:t>
            </a:r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 is time-consuming, subjective, and not scalable for large-scale monitoring.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Traditional image processing and shallow ML models fail to capture fine structural details of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microplastics</a:t>
            </a:r>
            <a:r>
              <a:rPr lang="en-US" smtClean="0"/>
              <a:t>.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Conventional CNNs (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AlexNet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ResNet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) struggle with feature locality and long-range dependencies in such data</a:t>
            </a:r>
            <a:r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Why the problem matters</a:t>
            </a:r>
            <a:r>
              <a:rPr lang="en-US" sz="2000" b="1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Accurate detection of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microplastics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helps trace pollution sources and informs cleanup policies—critical for environmental sustainability and public health.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IEEE-iSSSC 2025">
            <a:extLst>
              <a:ext uri="{FF2B5EF4-FFF2-40B4-BE49-F238E27FC236}">
                <a16:creationId xmlns="" xmlns:a16="http://schemas.microsoft.com/office/drawing/2014/main" id="{3AAF6DAA-E239-6924-3C3D-8A4FF18222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3427" y="165598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43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="" xmlns:a16="http://schemas.microsoft.com/office/drawing/2014/main" id="{979E27D9-03C7-44E2-9FF8-15D0C8506A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0F6E636-A5B2-1EAA-C50D-F62EB581C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356" y="268654"/>
            <a:ext cx="9688296" cy="874990"/>
          </a:xfrm>
        </p:spPr>
        <p:txBody>
          <a:bodyPr anchor="b">
            <a:normAutofit fontScale="90000"/>
          </a:bodyPr>
          <a:lstStyle/>
          <a:p>
            <a:pPr lvl="0">
              <a:lnSpc>
                <a:spcPct val="160000"/>
              </a:lnSpc>
            </a:pPr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Motivation &amp; Core Contribution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EEBF1590-3B36-48EE-A89D-3B6F3CB256A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AC8F6C8C-AB5A-4548-942D-E3FD40ACBC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25FFB317-5B99-329E-4EE3-B17E386C51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8163" y="1322059"/>
            <a:ext cx="1147567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The growing </a:t>
            </a:r>
            <a:r>
              <a:rPr lang="en-US" sz="1800" b="1" err="1">
                <a:latin typeface="Arial" panose="020B0604020202020204" pitchFamily="34" charset="0"/>
                <a:cs typeface="Arial" panose="020B0604020202020204" pitchFamily="34" charset="0"/>
              </a:rPr>
              <a:t>microplastic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 pollution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in aquatic environments demands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automated detection systems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that can analyze holographic images efficiently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18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Manual microscopic inspection is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time-consuming and subjective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 making it unsuitable for large-scale environmental monitoring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18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To overcome the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limitations of CNNs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 this work uses the </a:t>
            </a:r>
            <a:r>
              <a:rPr lang="en-US" sz="1800" b="1" err="1">
                <a:latin typeface="Arial" panose="020B0604020202020204" pitchFamily="34" charset="0"/>
                <a:cs typeface="Arial" panose="020B0604020202020204" pitchFamily="34" charset="0"/>
              </a:rPr>
              <a:t>Swin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 Transformer V2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 which captures both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local and global contextual information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from holographic data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18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novel HSL fusion technique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(H = amplitude, S = phase, L = 0.5) integrates amplitude and phase features, improving visual texture representation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18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The proposed model achieves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high accuracy (91.65%) and F1-score (91.79%)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 outperforming traditional deep learning architectures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18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The system demonstrates the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potential of Vision Transformers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in environmental sustainability applications such as </a:t>
            </a:r>
            <a:r>
              <a:rPr lang="en-US" sz="1800" err="1">
                <a:latin typeface="Arial" panose="020B0604020202020204" pitchFamily="34" charset="0"/>
                <a:cs typeface="Arial" panose="020B0604020202020204" pitchFamily="34" charset="0"/>
              </a:rPr>
              <a:t>microplastic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classification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 descr="IEEE-iSSSC 2025">
            <a:extLst>
              <a:ext uri="{FF2B5EF4-FFF2-40B4-BE49-F238E27FC236}">
                <a16:creationId xmlns="" xmlns:a16="http://schemas.microsoft.com/office/drawing/2014/main" id="{AA3554B5-3372-41DF-0D5B-CF9506DA14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5637" y="75167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9741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DC48CFE2-EF8B-FF79-F58E-C4356E898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="" xmlns:a16="http://schemas.microsoft.com/office/drawing/2014/main" id="{15199817-DE9E-7449-7585-440E56EF637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972B1A-26A5-699F-90D3-ED1A3C704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409" y="335782"/>
            <a:ext cx="9688296" cy="766844"/>
          </a:xfrm>
        </p:spPr>
        <p:txBody>
          <a:bodyPr anchor="b">
            <a:normAutofit fontScale="90000"/>
          </a:bodyPr>
          <a:lstStyle/>
          <a:p>
            <a:pPr lvl="0">
              <a:lnSpc>
                <a:spcPct val="160000"/>
              </a:lnSpc>
            </a:pP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Literature Review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06553278-C897-96FC-2F2D-B52D4923A67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DFBF056B-1E9B-DCC1-7091-DEC92C0AAA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="" xmlns:a16="http://schemas.microsoft.com/office/drawing/2014/main" id="{6CE1A5B9-DD33-247B-5C69-021BA43E89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3">
            <a:extLst>
              <a:ext uri="{FF2B5EF4-FFF2-40B4-BE49-F238E27FC236}">
                <a16:creationId xmlns="" xmlns:a16="http://schemas.microsoft.com/office/drawing/2014/main" id="{AD7DC66B-D4F7-7DAE-EE1F-968B79F0BE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3309" y="1366883"/>
            <a:ext cx="11305381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Russo et al.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– Introduced HSL fusion and applied </a:t>
            </a:r>
            <a:r>
              <a:rPr lang="en-US" sz="1800" err="1">
                <a:latin typeface="Arial" panose="020B0604020202020204" pitchFamily="34" charset="0"/>
                <a:cs typeface="Arial" panose="020B0604020202020204" pitchFamily="34" charset="0"/>
              </a:rPr>
              <a:t>ViT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err="1">
                <a:latin typeface="Arial" panose="020B0604020202020204" pitchFamily="34" charset="0"/>
                <a:cs typeface="Arial" panose="020B0604020202020204" pitchFamily="34" charset="0"/>
              </a:rPr>
              <a:t>DenseNet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1800" err="1">
                <a:latin typeface="Arial" panose="020B0604020202020204" pitchFamily="34" charset="0"/>
                <a:cs typeface="Arial" panose="020B0604020202020204" pitchFamily="34" charset="0"/>
              </a:rPr>
              <a:t>ResNet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architectures for </a:t>
            </a:r>
            <a:r>
              <a:rPr lang="en-US" sz="1800" err="1">
                <a:latin typeface="Arial" panose="020B0604020202020204" pitchFamily="34" charset="0"/>
                <a:cs typeface="Arial" panose="020B0604020202020204" pitchFamily="34" charset="0"/>
              </a:rPr>
              <a:t>microplastic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classification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Lee et al.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– Designed a deep learning model for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segmenting </a:t>
            </a:r>
            <a:r>
              <a:rPr lang="en-US" sz="1800" b="1" err="1">
                <a:latin typeface="Arial" panose="020B0604020202020204" pitchFamily="34" charset="0"/>
                <a:cs typeface="Arial" panose="020B0604020202020204" pitchFamily="34" charset="0"/>
              </a:rPr>
              <a:t>microplastic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 particles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from holographic images, improving the clarity of particle boundaries for better analysis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Han et al.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– Proposed a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multi-class classification method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that identifies different </a:t>
            </a:r>
            <a:r>
              <a:rPr lang="en-US" sz="1800" b="1" err="1">
                <a:latin typeface="Arial" panose="020B0604020202020204" pitchFamily="34" charset="0"/>
                <a:cs typeface="Arial" panose="020B0604020202020204" pitchFamily="34" charset="0"/>
              </a:rPr>
              <a:t>microplastic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 types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based on their morphological and texture features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Transformer advancements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800" err="1">
                <a:latin typeface="Arial" panose="020B0604020202020204" pitchFamily="34" charset="0"/>
                <a:cs typeface="Arial" panose="020B0604020202020204" pitchFamily="34" charset="0"/>
              </a:rPr>
              <a:t>ViT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err="1">
                <a:latin typeface="Arial" panose="020B0604020202020204" pitchFamily="34" charset="0"/>
                <a:cs typeface="Arial" panose="020B0604020202020204" pitchFamily="34" charset="0"/>
              </a:rPr>
              <a:t>Swin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V1/V2 proved effective in small-object recognition due to self-attention and shifted-window mechanisms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b="1" smtClean="0">
                <a:latin typeface="Arial" panose="020B0604020202020204" pitchFamily="34" charset="0"/>
                <a:cs typeface="Arial" panose="020B0604020202020204" pitchFamily="34" charset="0"/>
              </a:rPr>
              <a:t>Research Gap: 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Prior 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works focused on CNNs or plain </a:t>
            </a:r>
            <a:r>
              <a:rPr lang="en-US" sz="1800" err="1">
                <a:latin typeface="Arial" panose="020B0604020202020204" pitchFamily="34" charset="0"/>
                <a:cs typeface="Arial" panose="020B0604020202020204" pitchFamily="34" charset="0"/>
              </a:rPr>
              <a:t>ViTs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; few explored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hierarchical attention transformers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with fused amplitude–phase information—this paper addresses that gap.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b="1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b="1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b="1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557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CFFC0B7D-33C4-EF12-2AB3-BD943D8EF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="" xmlns:a16="http://schemas.microsoft.com/office/drawing/2014/main" id="{9C4FFF6F-CE43-2282-CB86-892BBCBACF2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4FEED8E-49C3-2CAA-5BD6-FCCFFA8FB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32" y="175528"/>
            <a:ext cx="12354019" cy="856964"/>
          </a:xfrm>
        </p:spPr>
        <p:txBody>
          <a:bodyPr anchor="b">
            <a:normAutofit fontScale="90000"/>
          </a:bodyPr>
          <a:lstStyle/>
          <a:p>
            <a:pPr lvl="0">
              <a:lnSpc>
                <a:spcPct val="160000"/>
              </a:lnSpc>
            </a:pP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Proposed System </a:t>
            </a:r>
            <a:r>
              <a:rPr lang="en-US" sz="4000" b="1" smtClean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Model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204E1D6D-58D9-F76F-1DFA-D23B9824B40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79F5D451-4F81-0AE9-A7FF-245565B6AE3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="" xmlns:a16="http://schemas.microsoft.com/office/drawing/2014/main" id="{68383026-8464-EC8F-5F64-3369AD918C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4C7F229C-90AC-C433-0E84-A615A1386A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2932" y="1208019"/>
            <a:ext cx="11214428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Overall Pipeline</a:t>
            </a:r>
            <a:r>
              <a:rPr lang="en-US" sz="2000" b="1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Input 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holographic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amplitude &amp; phase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images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 b="1" smtClean="0">
                <a:latin typeface="Arial" panose="020B0604020202020204" pitchFamily="34" charset="0"/>
                <a:cs typeface="Arial" panose="020B0604020202020204" pitchFamily="34" charset="0"/>
              </a:rPr>
              <a:t>HSL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Fusion: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H = A, S = P, L = 0.5 → converted to RGB 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format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 b="1" smtClean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err="1">
                <a:latin typeface="Arial" panose="020B0604020202020204" pitchFamily="34" charset="0"/>
                <a:cs typeface="Arial" panose="020B0604020202020204" pitchFamily="34" charset="0"/>
              </a:rPr>
              <a:t>Swin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Transformer V2 (hierarchical attention, shifted windows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 b="1" smtClean="0">
                <a:latin typeface="Arial" panose="020B0604020202020204" pitchFamily="34" charset="0"/>
                <a:cs typeface="Arial" panose="020B0604020202020204" pitchFamily="34" charset="0"/>
              </a:rPr>
              <a:t>Data preprocessing: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 resizing (256×256), augmentation (flip, rotation, color jitter).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 b="1" smtClean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binary classification 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80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icroplastic 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Non-Microplastic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1C84CFB-DE67-47C5-3D81-AF5C4160E27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60" b="26066"/>
          <a:stretch/>
        </p:blipFill>
        <p:spPr>
          <a:xfrm>
            <a:off x="2123768" y="3168651"/>
            <a:ext cx="7649497" cy="295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26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BE6BA4E5-DAF5-FC17-5FE6-FF96D3F1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="" xmlns:a16="http://schemas.microsoft.com/office/drawing/2014/main" id="{6048B6DB-13DF-F440-ADCD-67CCFBB2620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8CF23B-EFA0-C024-404E-D2D63A1FA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551" y="495894"/>
            <a:ext cx="10704897" cy="713710"/>
          </a:xfrm>
        </p:spPr>
        <p:txBody>
          <a:bodyPr anchor="b">
            <a:normAutofit/>
          </a:bodyPr>
          <a:lstStyle/>
          <a:p>
            <a:pPr marL="2794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Simulation Setup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5DCAF5A5-5187-ADB4-D0A3-2D0CAAC074E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9AF6E61F-D0BB-CA61-E12F-B434D2DBEA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="" xmlns:a16="http://schemas.microsoft.com/office/drawing/2014/main" id="{B0198E4B-CF5C-0B9A-7A27-1C257246BA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85905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4EBAD8BF-B28B-FE8E-AFA1-645F87405303}"/>
              </a:ext>
            </a:extLst>
          </p:cNvPr>
          <p:cNvSpPr txBox="1"/>
          <p:nvPr/>
        </p:nvSpPr>
        <p:spPr>
          <a:xfrm>
            <a:off x="489551" y="1450711"/>
            <a:ext cx="1144844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System Configuration</a:t>
            </a:r>
            <a:r>
              <a:rPr lang="en-US" altLang="en-US" sz="2000" b="1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Windows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10 OS</a:t>
            </a:r>
          </a:p>
          <a:p>
            <a:pPr marL="800100" lvl="1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Intel® Core™ i5 Processor</a:t>
            </a:r>
          </a:p>
          <a:p>
            <a:pPr marL="800100" lvl="1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8 GB RAM</a:t>
            </a:r>
          </a:p>
          <a:p>
            <a:pPr marL="800100" lvl="1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No dedicated GPU (CPU-based training</a:t>
            </a:r>
            <a:r>
              <a:rPr lang="en-US" alt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800100" lvl="1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Development Environment:</a:t>
            </a:r>
          </a:p>
          <a:p>
            <a:pPr marL="800100" lvl="1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Language: Python</a:t>
            </a:r>
          </a:p>
          <a:p>
            <a:pPr marL="800100" lvl="1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Framework: PyTorch</a:t>
            </a:r>
          </a:p>
          <a:p>
            <a:pPr marL="800100" lvl="1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Libraries: timm, Albumentations, </a:t>
            </a:r>
            <a:r>
              <a:rPr lang="en-US" alt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OpenCV</a:t>
            </a:r>
          </a:p>
          <a:p>
            <a:pPr marL="800100" lvl="1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en-US" sz="2000" b="1" smtClean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HMPD dataset (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classes)</a:t>
            </a:r>
          </a:p>
          <a:p>
            <a:pPr marL="800100" lvl="1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Includes image normalization and data augmentation (flips, rotations, brightness)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374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F5699AF1-578C-BEC7-992B-F37209B69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="" xmlns:a16="http://schemas.microsoft.com/office/drawing/2014/main" id="{3AFF28DB-3022-9AE0-E6ED-89E177E7513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25A1CC-71D5-1D0A-A054-F4934C595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86" y="269388"/>
            <a:ext cx="9688296" cy="1023683"/>
          </a:xfrm>
        </p:spPr>
        <p:txBody>
          <a:bodyPr anchor="b">
            <a:normAutofit/>
          </a:bodyPr>
          <a:lstStyle/>
          <a:p>
            <a:pPr marL="2794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Result and Discussion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4661387A-D2CF-B83D-46A1-E5112D3F65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5E189AA1-8B48-0023-1FF8-DFACB3C97E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="" xmlns:a16="http://schemas.microsoft.com/office/drawing/2014/main" id="{AE60887A-DA6E-D15A-7883-A107254B7A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C8053939-F2D0-F04C-67B3-38C95FE23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077" y="1386549"/>
            <a:ext cx="10480920" cy="99813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The proposed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Swin Transformer V2 with HSL fusion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efficiently combines amplitude and phase features, outperforming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AlexNet, ResNet18, and VGG11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in microplastic classification.</a:t>
            </a:r>
            <a:endParaRPr lang="en-US" sz="18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confusion matrix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shows minimal misclassification between </a:t>
            </a:r>
            <a:r>
              <a:rPr lang="en-US" sz="1800" err="1">
                <a:latin typeface="Arial" panose="020B0604020202020204" pitchFamily="34" charset="0"/>
                <a:cs typeface="Arial" panose="020B0604020202020204" pitchFamily="34" charset="0"/>
              </a:rPr>
              <a:t>microplastic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and non-</a:t>
            </a:r>
            <a:r>
              <a:rPr lang="en-US" sz="1800" err="1">
                <a:latin typeface="Arial" panose="020B0604020202020204" pitchFamily="34" charset="0"/>
                <a:cs typeface="Arial" panose="020B0604020202020204" pitchFamily="34" charset="0"/>
              </a:rPr>
              <a:t>microplastic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classes.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Overall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Swin Transformer V2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provides efficient and accurate segmentation results.</a:t>
            </a:r>
            <a:endParaRPr lang="en-IN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8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BC2A60CB-2642-F882-4CEF-01F2A69B28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984" y="3429000"/>
            <a:ext cx="4454013" cy="26943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79" y="3441289"/>
            <a:ext cx="4721757" cy="247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996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BE34EBA5-9702-40F6-3929-2D9DD2B3A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="" xmlns:a16="http://schemas.microsoft.com/office/drawing/2014/main" id="{5E44DD87-B842-6A2C-4C19-828CE13038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8E41FE7-ACF2-70D8-55FE-F770114B8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611" y="30671"/>
            <a:ext cx="11518371" cy="853913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Conclusion &amp; Future Work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B1BC3E1B-2D96-9495-0F03-77621D506F9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6B6056C1-5074-4528-7D7D-4A4071A5436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="" xmlns:a16="http://schemas.microsoft.com/office/drawing/2014/main" id="{54FB27CE-D2FC-8675-EAA0-132BC27F68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5955" y="148411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5">
            <a:extLst>
              <a:ext uri="{FF2B5EF4-FFF2-40B4-BE49-F238E27FC236}">
                <a16:creationId xmlns="" xmlns:a16="http://schemas.microsoft.com/office/drawing/2014/main" id="{88C67327-A6F6-6685-AECD-5C25B16059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1014" y="1178311"/>
            <a:ext cx="10882839" cy="4044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Conclusion:</a:t>
            </a:r>
            <a:endParaRPr lang="en-IN" sz="2000" b="1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HSL fusion effectively combines amplitude + phase holographic data.</a:t>
            </a:r>
            <a:r>
              <a:rPr lang="en-IN" sz="1800" smtClean="0">
                <a:latin typeface="Arial" panose="020B0604020202020204" pitchFamily="34" charset="0"/>
                <a:cs typeface="Arial" panose="020B0604020202020204" pitchFamily="34" charset="0"/>
              </a:rPr>
              <a:t>Achieves </a:t>
            </a:r>
            <a:r>
              <a:rPr lang="en-IN" sz="1800">
                <a:latin typeface="Arial" panose="020B0604020202020204" pitchFamily="34" charset="0"/>
                <a:cs typeface="Arial" panose="020B0604020202020204" pitchFamily="34" charset="0"/>
              </a:rPr>
              <a:t>high accuracy and interpretability.</a:t>
            </a:r>
          </a:p>
          <a:p>
            <a:r>
              <a:rPr lang="en-US" sz="1800" err="1">
                <a:latin typeface="Arial" panose="020B0604020202020204" pitchFamily="34" charset="0"/>
                <a:cs typeface="Arial" panose="020B0604020202020204" pitchFamily="34" charset="0"/>
              </a:rPr>
              <a:t>Swin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Transformer V2 achieves state-of-the-art accuracy (91.65 %) on HMPD dataset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Validates transformer applicability to microscopic image 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</a:p>
          <a:p>
            <a:endParaRPr lang="en-US" sz="18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Future Work:</a:t>
            </a:r>
            <a:endParaRPr lang="en-US" sz="2000" b="1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Extend to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multi-class </a:t>
            </a:r>
            <a:r>
              <a:rPr lang="en-US" sz="1800" err="1">
                <a:latin typeface="Arial" panose="020B0604020202020204" pitchFamily="34" charset="0"/>
                <a:cs typeface="Arial" panose="020B0604020202020204" pitchFamily="34" charset="0"/>
              </a:rPr>
              <a:t>microplastic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types (fiber, fragment, pellet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Test on real-world samples (field images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Explore lightweight </a:t>
            </a:r>
            <a:r>
              <a:rPr lang="en-US" sz="1800" err="1">
                <a:latin typeface="Arial" panose="020B0604020202020204" pitchFamily="34" charset="0"/>
                <a:cs typeface="Arial" panose="020B0604020202020204" pitchFamily="34" charset="0"/>
              </a:rPr>
              <a:t>Swin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variants for edge deployment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Include </a:t>
            </a:r>
            <a:r>
              <a:rPr lang="en-US" sz="1800" err="1">
                <a:latin typeface="Arial" panose="020B0604020202020204" pitchFamily="34" charset="0"/>
                <a:cs typeface="Arial" panose="020B0604020202020204" pitchFamily="34" charset="0"/>
              </a:rPr>
              <a:t>hyperparameter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optimization and cross-validation for reproducibility.</a:t>
            </a:r>
            <a:endParaRPr lang="en-IN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768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0DA65D3C-68A1-57C7-BD68-8A4DDBDD5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="" xmlns:a16="http://schemas.microsoft.com/office/drawing/2014/main" id="{C7CE12AA-1C03-9E46-DB28-08CBE0A9114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D4D12C76-E70A-6E88-EC92-BBA13739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846" y="101729"/>
            <a:ext cx="9688296" cy="782793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References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945E2101-2555-E33B-A702-7B6D83A73C2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58356BB5-8463-0225-206F-ABCB431183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="" xmlns:a16="http://schemas.microsoft.com/office/drawing/2014/main" id="{1729A5C1-74FA-37BA-9E90-E71444B74E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="" xmlns:a16="http://schemas.microsoft.com/office/drawing/2014/main" id="{E2E1B837-B137-D244-24F1-8C11DDFC07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8968" y="1028346"/>
            <a:ext cx="11454064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Z. Liu </a:t>
            </a:r>
            <a:r>
              <a:rPr lang="en-US" sz="1800" i="1">
                <a:latin typeface="Arial" panose="020B0604020202020204" pitchFamily="34" charset="0"/>
                <a:cs typeface="Arial" panose="020B0604020202020204" pitchFamily="34" charset="0"/>
              </a:rPr>
              <a:t>et al.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 “</a:t>
            </a:r>
            <a:r>
              <a:rPr lang="en-US" sz="1800" b="1" err="1">
                <a:latin typeface="Arial" panose="020B0604020202020204" pitchFamily="34" charset="0"/>
                <a:cs typeface="Arial" panose="020B0604020202020204" pitchFamily="34" charset="0"/>
              </a:rPr>
              <a:t>Swin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 Transformer V2: Scaling Up Capacity and Resolution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,” </a:t>
            </a:r>
            <a:r>
              <a:rPr lang="en-US" sz="1800" i="1">
                <a:latin typeface="Arial" panose="020B0604020202020204" pitchFamily="34" charset="0"/>
                <a:cs typeface="Arial" panose="020B0604020202020204" pitchFamily="34" charset="0"/>
              </a:rPr>
              <a:t>Proceedings of the IEEE/CVF Conference on Computer Vision and Pattern Recognition (CVPR)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 pp. 12009–12019, 2022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A. </a:t>
            </a:r>
            <a:r>
              <a:rPr lang="en-US" sz="1800" err="1">
                <a:latin typeface="Arial" panose="020B0604020202020204" pitchFamily="34" charset="0"/>
                <a:cs typeface="Arial" panose="020B0604020202020204" pitchFamily="34" charset="0"/>
              </a:rPr>
              <a:t>Dosovitskiy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i="1">
                <a:latin typeface="Arial" panose="020B0604020202020204" pitchFamily="34" charset="0"/>
                <a:cs typeface="Arial" panose="020B0604020202020204" pitchFamily="34" charset="0"/>
              </a:rPr>
              <a:t>et al.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 “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An Image is Worth 16×16 Words: Transformers for Image Recognition at Scale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,” </a:t>
            </a:r>
            <a:r>
              <a:rPr lang="en-US" sz="1800" i="1">
                <a:latin typeface="Arial" panose="020B0604020202020204" pitchFamily="34" charset="0"/>
                <a:cs typeface="Arial" panose="020B0604020202020204" pitchFamily="34" charset="0"/>
              </a:rPr>
              <a:t>International Conference on Learning Representations (ICLR)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 2021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G. Russo </a:t>
            </a:r>
            <a:r>
              <a:rPr lang="en-US" sz="1800" i="1">
                <a:latin typeface="Arial" panose="020B0604020202020204" pitchFamily="34" charset="0"/>
                <a:cs typeface="Arial" panose="020B0604020202020204" pitchFamily="34" charset="0"/>
              </a:rPr>
              <a:t>et al.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 “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Microplastic Classification in Holographic Images Using </a:t>
            </a:r>
            <a:r>
              <a:rPr lang="en-US" sz="1800" b="1" err="1">
                <a:latin typeface="Arial" panose="020B0604020202020204" pitchFamily="34" charset="0"/>
                <a:cs typeface="Arial" panose="020B0604020202020204" pitchFamily="34" charset="0"/>
              </a:rPr>
              <a:t>Swin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 Transformer V2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,” </a:t>
            </a:r>
            <a:r>
              <a:rPr lang="en-US" sz="1800" i="1">
                <a:latin typeface="Arial" panose="020B0604020202020204" pitchFamily="34" charset="0"/>
                <a:cs typeface="Arial" panose="020B0604020202020204" pitchFamily="34" charset="0"/>
              </a:rPr>
              <a:t>Sensors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 vol. 24, no. 5, pp. 1–17, 2024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H. Chen </a:t>
            </a:r>
            <a:r>
              <a:rPr lang="en-US" sz="1800" i="1">
                <a:latin typeface="Arial" panose="020B0604020202020204" pitchFamily="34" charset="0"/>
                <a:cs typeface="Arial" panose="020B0604020202020204" pitchFamily="34" charset="0"/>
              </a:rPr>
              <a:t>et al.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 “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A Survey on Vision Transformers in Computer Vision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,” </a:t>
            </a:r>
            <a:r>
              <a:rPr lang="en-US" sz="1800" i="1">
                <a:latin typeface="Arial" panose="020B0604020202020204" pitchFamily="34" charset="0"/>
                <a:cs typeface="Arial" panose="020B0604020202020204" pitchFamily="34" charset="0"/>
              </a:rPr>
              <a:t>IEEE Transactions on Neural Networks and Learning Systems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 vol. 35, no. 2, pp. 1550–1571, 2023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J. Li </a:t>
            </a:r>
            <a:r>
              <a:rPr lang="en-US" sz="1800" i="1">
                <a:latin typeface="Arial" panose="020B0604020202020204" pitchFamily="34" charset="0"/>
                <a:cs typeface="Arial" panose="020B0604020202020204" pitchFamily="34" charset="0"/>
              </a:rPr>
              <a:t>et al.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 “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Deep Learning for Microplastic Detection and Classification: Challenges and Perspectives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,” </a:t>
            </a:r>
            <a:r>
              <a:rPr lang="en-US" sz="1800" i="1">
                <a:latin typeface="Arial" panose="020B0604020202020204" pitchFamily="34" charset="0"/>
                <a:cs typeface="Arial" panose="020B0604020202020204" pitchFamily="34" charset="0"/>
              </a:rPr>
              <a:t>Environmental Science &amp; Technology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 vol. 57, no. 6, pp. 2561–2574, 2023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P. Zhang </a:t>
            </a:r>
            <a:r>
              <a:rPr lang="en-US" sz="1800" i="1">
                <a:latin typeface="Arial" panose="020B0604020202020204" pitchFamily="34" charset="0"/>
                <a:cs typeface="Arial" panose="020B0604020202020204" pitchFamily="34" charset="0"/>
              </a:rPr>
              <a:t>et al.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 “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Attention Mechanisms in Environmental Image Analysis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,” </a:t>
            </a:r>
            <a:r>
              <a:rPr lang="en-US" sz="1800" i="1">
                <a:latin typeface="Arial" panose="020B0604020202020204" pitchFamily="34" charset="0"/>
                <a:cs typeface="Arial" panose="020B0604020202020204" pitchFamily="34" charset="0"/>
              </a:rPr>
              <a:t>IEEE Access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, vol. 11, pp. 12045–12059, 2023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4491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26D420BC-BB92-5F38-D0EC-2AA61C05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="" xmlns:a16="http://schemas.microsoft.com/office/drawing/2014/main" id="{5A8BF324-D5F0-E912-1399-B52BB762EB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1502915-EEB7-7253-41B1-23D03EC14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515" y="432168"/>
            <a:ext cx="9688296" cy="1219651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Reviewer Comments Addressed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9A520D80-9ED4-8584-7740-FE84BCADA4F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E46DF2BD-6B17-41FF-EEA0-EC97FF6BC1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="" xmlns:a16="http://schemas.microsoft.com/office/drawing/2014/main" id="{698FE7B3-0A8C-66C9-AFFA-4D810F241F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1">
            <a:extLst>
              <a:ext uri="{FF2B5EF4-FFF2-40B4-BE49-F238E27FC236}">
                <a16:creationId xmlns="" xmlns:a16="http://schemas.microsoft.com/office/drawing/2014/main" id="{C80EEDC7-5DEB-8687-3C1C-44716BC88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409" y="2045962"/>
            <a:ext cx="1088918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All figures have been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enhanced for better clarity and resolution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detailed comparison among different models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has been added to strengthen the analysis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Mathematical equations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and architecture explanations are now clearly 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included.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 b="1" smtClean="0">
                <a:latin typeface="Arial" panose="020B0604020202020204" pitchFamily="34" charset="0"/>
                <a:cs typeface="Arial" panose="020B0604020202020204" pitchFamily="34" charset="0"/>
              </a:rPr>
              <a:t>Long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paragraphs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were split into shorter, well-structured sections for improved readability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experimental setup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was refined and aligned with the formatting guidelines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Dataset limitations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real-world deployment challenges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were discussed in the Results section</a:t>
            </a: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Grammar and language quality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have been carefully revised for better clarity and flow.</a:t>
            </a:r>
            <a:endParaRPr lang="en-US" sz="180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568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="" xmlns:a16="http://schemas.microsoft.com/office/drawing/2014/main" id="{6F5A5072-7B47-4D32-B52A-4EBBF590B8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9715DAF0-AE1B-46C9-8A6B-DB2AA05AB9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6016219D-510E-4184-9090-6D5578A87B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="" xmlns:a16="http://schemas.microsoft.com/office/drawing/2014/main" id="{AFF4A713-7B75-4B21-90D7-5AB19547C72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="" xmlns:a16="http://schemas.microsoft.com/office/drawing/2014/main" id="{DC631C0B-6DA6-4E57-8231-CE32B3434A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="" xmlns:a16="http://schemas.microsoft.com/office/drawing/2014/main" id="{C29501E6-A978-4A61-9689-9085AF97A53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705353E-71BB-A44F-54B4-E3E127C69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  <a:b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4158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999</Words>
  <Application>Microsoft Office PowerPoint</Application>
  <PresentationFormat>Widescreen</PresentationFormat>
  <Paragraphs>108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2025 IEEE iSSSC</vt:lpstr>
      <vt:lpstr>Outline</vt:lpstr>
      <vt:lpstr>Introduction</vt:lpstr>
      <vt:lpstr>Motivation &amp; Core Contribution</vt:lpstr>
      <vt:lpstr>Literature Review</vt:lpstr>
      <vt:lpstr>Proposed System Model</vt:lpstr>
      <vt:lpstr>Simulation Setup</vt:lpstr>
      <vt:lpstr>Result and Discussion</vt:lpstr>
      <vt:lpstr>Conclusion &amp; Future Work</vt:lpstr>
      <vt:lpstr>References</vt:lpstr>
      <vt:lpstr>Reviewer Comments Addressed</vt:lpstr>
      <vt:lpstr>Thank You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 IEEE iSSSC</dc:title>
  <dc:creator>Prangya Priyadarshini</dc:creator>
  <cp:lastModifiedBy>Microsoft account</cp:lastModifiedBy>
  <cp:revision>29</cp:revision>
  <dcterms:created xsi:type="dcterms:W3CDTF">2025-10-21T04:39:10Z</dcterms:created>
  <dcterms:modified xsi:type="dcterms:W3CDTF">2025-10-31T17:35:25Z</dcterms:modified>
</cp:coreProperties>
</file>